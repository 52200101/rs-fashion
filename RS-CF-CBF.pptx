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lear Sans Bold" charset="1" panose="020B0803030202020304"/>
      <p:regular r:id="rId22"/>
    </p:embeddedFont>
    <p:embeddedFont>
      <p:font typeface="Arimo" charset="1" panose="020B0604020202020204"/>
      <p:regular r:id="rId23"/>
    </p:embeddedFont>
    <p:embeddedFont>
      <p:font typeface="Arimo Bold" charset="1" panose="020B0704020202020204"/>
      <p:regular r:id="rId24"/>
    </p:embeddedFont>
    <p:embeddedFont>
      <p:font typeface="Times New Roman Bold" charset="1" panose="02020803070505020304"/>
      <p:regular r:id="rId25"/>
    </p:embeddedFont>
    <p:embeddedFont>
      <p:font typeface="Times New Roman" charset="1" panose="020206030504050203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668429" y="395962"/>
            <a:ext cx="10951142" cy="1670788"/>
            <a:chOff x="0" y="0"/>
            <a:chExt cx="14601523" cy="2227718"/>
          </a:xfrm>
        </p:grpSpPr>
        <p:sp>
          <p:nvSpPr>
            <p:cNvPr name="TextBox 3" id="3"/>
            <p:cNvSpPr txBox="true"/>
            <p:nvPr/>
          </p:nvSpPr>
          <p:spPr>
            <a:xfrm rot="0">
              <a:off x="0" y="1639496"/>
              <a:ext cx="14601523" cy="588222"/>
            </a:xfrm>
            <a:prstGeom prst="rect">
              <a:avLst/>
            </a:prstGeom>
          </p:spPr>
          <p:txBody>
            <a:bodyPr anchor="t" rtlCol="false" tIns="0" lIns="0" bIns="0" rIns="0">
              <a:spAutoFit/>
            </a:bodyPr>
            <a:lstStyle/>
            <a:p>
              <a:pPr algn="ctr" marL="0" indent="0" lvl="0">
                <a:lnSpc>
                  <a:spcPts val="3640"/>
                </a:lnSpc>
              </a:pPr>
            </a:p>
          </p:txBody>
        </p:sp>
        <p:sp>
          <p:nvSpPr>
            <p:cNvPr name="TextBox 4" id="4"/>
            <p:cNvSpPr txBox="true"/>
            <p:nvPr/>
          </p:nvSpPr>
          <p:spPr>
            <a:xfrm rot="0">
              <a:off x="0" y="-47625"/>
              <a:ext cx="14601523" cy="1555369"/>
            </a:xfrm>
            <a:prstGeom prst="rect">
              <a:avLst/>
            </a:prstGeom>
          </p:spPr>
          <p:txBody>
            <a:bodyPr anchor="t" rtlCol="false" tIns="0" lIns="0" bIns="0" rIns="0">
              <a:spAutoFit/>
            </a:bodyPr>
            <a:lstStyle/>
            <a:p>
              <a:pPr algn="ctr" marL="0" indent="0" lvl="0">
                <a:lnSpc>
                  <a:spcPts val="4716"/>
                </a:lnSpc>
                <a:spcBef>
                  <a:spcPct val="0"/>
                </a:spcBef>
              </a:pPr>
              <a:r>
                <a:rPr lang="en-US" b="true" sz="3600" spc="107">
                  <a:solidFill>
                    <a:srgbClr val="191919"/>
                  </a:solidFill>
                  <a:latin typeface="Clear Sans Bold"/>
                  <a:ea typeface="Clear Sans Bold"/>
                  <a:cs typeface="Clear Sans Bold"/>
                  <a:sym typeface="Clear Sans Bold"/>
                </a:rPr>
                <a:t>XÂY DỰNG HỆ THỐ</a:t>
              </a:r>
              <a:r>
                <a:rPr lang="en-US" b="true" sz="3600" spc="107" u="none">
                  <a:solidFill>
                    <a:srgbClr val="191919"/>
                  </a:solidFill>
                  <a:latin typeface="Clear Sans Bold"/>
                  <a:ea typeface="Clear Sans Bold"/>
                  <a:cs typeface="Clear Sans Bold"/>
                  <a:sym typeface="Clear Sans Bold"/>
                </a:rPr>
                <a:t>NG KHUYẾN NGHỊ SẢN PHẨM THỜI TRANG DỰA TRÊN ẢNH VÀ MÔ TẢ VĂN BẢN.</a:t>
              </a:r>
            </a:p>
          </p:txBody>
        </p:sp>
      </p:grpSp>
      <p:grpSp>
        <p:nvGrpSpPr>
          <p:cNvPr name="Group 5" id="5"/>
          <p:cNvGrpSpPr/>
          <p:nvPr/>
        </p:nvGrpSpPr>
        <p:grpSpPr>
          <a:xfrm rot="-5400000">
            <a:off x="8617729" y="3310693"/>
            <a:ext cx="1052542" cy="317256"/>
            <a:chOff x="0" y="0"/>
            <a:chExt cx="1685364" cy="508000"/>
          </a:xfrm>
        </p:grpSpPr>
        <p:sp>
          <p:nvSpPr>
            <p:cNvPr name="Freeform 6" id="6"/>
            <p:cNvSpPr/>
            <p:nvPr/>
          </p:nvSpPr>
          <p:spPr>
            <a:xfrm flipH="false" flipV="false" rot="0">
              <a:off x="1237054" y="49530"/>
              <a:ext cx="408940" cy="408940"/>
            </a:xfrm>
            <a:custGeom>
              <a:avLst/>
              <a:gdLst/>
              <a:ahLst/>
              <a:cxnLst/>
              <a:rect r="r" b="b" t="t" l="l"/>
              <a:pathLst>
                <a:path h="408940" w="408940">
                  <a:moveTo>
                    <a:pt x="204470" y="0"/>
                  </a:moveTo>
                  <a:cubicBezTo>
                    <a:pt x="91545" y="0"/>
                    <a:pt x="0" y="91544"/>
                    <a:pt x="0" y="204470"/>
                  </a:cubicBezTo>
                  <a:cubicBezTo>
                    <a:pt x="0" y="317396"/>
                    <a:pt x="91545" y="408940"/>
                    <a:pt x="204470" y="408940"/>
                  </a:cubicBezTo>
                  <a:cubicBezTo>
                    <a:pt x="317396" y="408940"/>
                    <a:pt x="408940" y="317396"/>
                    <a:pt x="408940" y="204470"/>
                  </a:cubicBezTo>
                  <a:cubicBezTo>
                    <a:pt x="408940" y="91544"/>
                    <a:pt x="317396" y="0"/>
                    <a:pt x="204470" y="0"/>
                  </a:cubicBezTo>
                  <a:close/>
                </a:path>
              </a:pathLst>
            </a:custGeom>
            <a:solidFill>
              <a:srgbClr val="86EAE9"/>
            </a:solidFill>
          </p:spPr>
        </p:sp>
        <p:sp>
          <p:nvSpPr>
            <p:cNvPr name="Freeform 7" id="7"/>
            <p:cNvSpPr/>
            <p:nvPr/>
          </p:nvSpPr>
          <p:spPr>
            <a:xfrm flipH="false" flipV="false" rot="0">
              <a:off x="0" y="11430"/>
              <a:ext cx="1685365" cy="485140"/>
            </a:xfrm>
            <a:custGeom>
              <a:avLst/>
              <a:gdLst/>
              <a:ahLst/>
              <a:cxnLst/>
              <a:rect r="r" b="b" t="t" l="l"/>
              <a:pathLst>
                <a:path h="485140" w="1685365">
                  <a:moveTo>
                    <a:pt x="1441524" y="0"/>
                  </a:moveTo>
                  <a:cubicBezTo>
                    <a:pt x="1320874" y="0"/>
                    <a:pt x="1220544" y="88900"/>
                    <a:pt x="1201494" y="204470"/>
                  </a:cubicBezTo>
                  <a:lnTo>
                    <a:pt x="0" y="204470"/>
                  </a:lnTo>
                  <a:lnTo>
                    <a:pt x="0" y="280670"/>
                  </a:lnTo>
                  <a:lnTo>
                    <a:pt x="1202764" y="280670"/>
                  </a:lnTo>
                  <a:cubicBezTo>
                    <a:pt x="1220544" y="396240"/>
                    <a:pt x="1322144" y="485140"/>
                    <a:pt x="1442794" y="485140"/>
                  </a:cubicBezTo>
                  <a:cubicBezTo>
                    <a:pt x="1577415" y="485140"/>
                    <a:pt x="1685365" y="375920"/>
                    <a:pt x="1685365" y="242570"/>
                  </a:cubicBezTo>
                  <a:cubicBezTo>
                    <a:pt x="1685365" y="107950"/>
                    <a:pt x="1576144" y="0"/>
                    <a:pt x="1441524" y="0"/>
                  </a:cubicBezTo>
                  <a:close/>
                  <a:moveTo>
                    <a:pt x="1441524" y="408940"/>
                  </a:moveTo>
                  <a:cubicBezTo>
                    <a:pt x="1350084" y="408940"/>
                    <a:pt x="1275154" y="334010"/>
                    <a:pt x="1275154" y="242570"/>
                  </a:cubicBezTo>
                  <a:cubicBezTo>
                    <a:pt x="1275154" y="151130"/>
                    <a:pt x="1350084" y="76200"/>
                    <a:pt x="1441524" y="76200"/>
                  </a:cubicBezTo>
                  <a:cubicBezTo>
                    <a:pt x="1532965" y="76200"/>
                    <a:pt x="1607894" y="151130"/>
                    <a:pt x="1607894" y="242570"/>
                  </a:cubicBezTo>
                  <a:cubicBezTo>
                    <a:pt x="1609165" y="334010"/>
                    <a:pt x="1534234" y="408940"/>
                    <a:pt x="1441524" y="408940"/>
                  </a:cubicBezTo>
                  <a:close/>
                </a:path>
              </a:pathLst>
            </a:custGeom>
            <a:solidFill>
              <a:srgbClr val="191919"/>
            </a:solidFill>
          </p:spPr>
        </p:sp>
      </p:grpSp>
      <p:grpSp>
        <p:nvGrpSpPr>
          <p:cNvPr name="Group 8" id="8"/>
          <p:cNvGrpSpPr/>
          <p:nvPr/>
        </p:nvGrpSpPr>
        <p:grpSpPr>
          <a:xfrm rot="-5400000">
            <a:off x="8617729" y="4363235"/>
            <a:ext cx="1052542" cy="317256"/>
            <a:chOff x="0" y="0"/>
            <a:chExt cx="1685364" cy="508000"/>
          </a:xfrm>
        </p:grpSpPr>
        <p:sp>
          <p:nvSpPr>
            <p:cNvPr name="Freeform 9" id="9"/>
            <p:cNvSpPr/>
            <p:nvPr/>
          </p:nvSpPr>
          <p:spPr>
            <a:xfrm flipH="false" flipV="false" rot="0">
              <a:off x="1237054" y="49530"/>
              <a:ext cx="408940" cy="408940"/>
            </a:xfrm>
            <a:custGeom>
              <a:avLst/>
              <a:gdLst/>
              <a:ahLst/>
              <a:cxnLst/>
              <a:rect r="r" b="b" t="t" l="l"/>
              <a:pathLst>
                <a:path h="408940" w="408940">
                  <a:moveTo>
                    <a:pt x="204470" y="0"/>
                  </a:moveTo>
                  <a:cubicBezTo>
                    <a:pt x="91545" y="0"/>
                    <a:pt x="0" y="91544"/>
                    <a:pt x="0" y="204470"/>
                  </a:cubicBezTo>
                  <a:cubicBezTo>
                    <a:pt x="0" y="317396"/>
                    <a:pt x="91545" y="408940"/>
                    <a:pt x="204470" y="408940"/>
                  </a:cubicBezTo>
                  <a:cubicBezTo>
                    <a:pt x="317396" y="408940"/>
                    <a:pt x="408940" y="317396"/>
                    <a:pt x="408940" y="204470"/>
                  </a:cubicBezTo>
                  <a:cubicBezTo>
                    <a:pt x="408940" y="91544"/>
                    <a:pt x="317396" y="0"/>
                    <a:pt x="204470" y="0"/>
                  </a:cubicBezTo>
                  <a:close/>
                </a:path>
              </a:pathLst>
            </a:custGeom>
            <a:solidFill>
              <a:srgbClr val="3EDAD8"/>
            </a:solidFill>
          </p:spPr>
        </p:sp>
        <p:sp>
          <p:nvSpPr>
            <p:cNvPr name="Freeform 10" id="10"/>
            <p:cNvSpPr/>
            <p:nvPr/>
          </p:nvSpPr>
          <p:spPr>
            <a:xfrm flipH="false" flipV="false" rot="0">
              <a:off x="0" y="11430"/>
              <a:ext cx="1685365" cy="485140"/>
            </a:xfrm>
            <a:custGeom>
              <a:avLst/>
              <a:gdLst/>
              <a:ahLst/>
              <a:cxnLst/>
              <a:rect r="r" b="b" t="t" l="l"/>
              <a:pathLst>
                <a:path h="485140" w="1685365">
                  <a:moveTo>
                    <a:pt x="1441524" y="0"/>
                  </a:moveTo>
                  <a:cubicBezTo>
                    <a:pt x="1320874" y="0"/>
                    <a:pt x="1220544" y="88900"/>
                    <a:pt x="1201494" y="204470"/>
                  </a:cubicBezTo>
                  <a:lnTo>
                    <a:pt x="0" y="204470"/>
                  </a:lnTo>
                  <a:lnTo>
                    <a:pt x="0" y="280670"/>
                  </a:lnTo>
                  <a:lnTo>
                    <a:pt x="1202764" y="280670"/>
                  </a:lnTo>
                  <a:cubicBezTo>
                    <a:pt x="1220544" y="396240"/>
                    <a:pt x="1322144" y="485140"/>
                    <a:pt x="1442794" y="485140"/>
                  </a:cubicBezTo>
                  <a:cubicBezTo>
                    <a:pt x="1577415" y="485140"/>
                    <a:pt x="1685365" y="375920"/>
                    <a:pt x="1685365" y="242570"/>
                  </a:cubicBezTo>
                  <a:cubicBezTo>
                    <a:pt x="1685365" y="107950"/>
                    <a:pt x="1576144" y="0"/>
                    <a:pt x="1441524" y="0"/>
                  </a:cubicBezTo>
                  <a:close/>
                  <a:moveTo>
                    <a:pt x="1441524" y="408940"/>
                  </a:moveTo>
                  <a:cubicBezTo>
                    <a:pt x="1350084" y="408940"/>
                    <a:pt x="1275154" y="334010"/>
                    <a:pt x="1275154" y="242570"/>
                  </a:cubicBezTo>
                  <a:cubicBezTo>
                    <a:pt x="1275154" y="151130"/>
                    <a:pt x="1350084" y="76200"/>
                    <a:pt x="1441524" y="76200"/>
                  </a:cubicBezTo>
                  <a:cubicBezTo>
                    <a:pt x="1532965" y="76200"/>
                    <a:pt x="1607894" y="151130"/>
                    <a:pt x="1607894" y="242570"/>
                  </a:cubicBezTo>
                  <a:cubicBezTo>
                    <a:pt x="1609165" y="334010"/>
                    <a:pt x="1534234" y="408940"/>
                    <a:pt x="1441524" y="408940"/>
                  </a:cubicBezTo>
                  <a:close/>
                </a:path>
              </a:pathLst>
            </a:custGeom>
            <a:solidFill>
              <a:srgbClr val="191919"/>
            </a:solidFill>
          </p:spPr>
        </p:sp>
      </p:grpSp>
      <p:grpSp>
        <p:nvGrpSpPr>
          <p:cNvPr name="Group 11" id="11"/>
          <p:cNvGrpSpPr/>
          <p:nvPr/>
        </p:nvGrpSpPr>
        <p:grpSpPr>
          <a:xfrm rot="-5400000">
            <a:off x="8617729" y="5415776"/>
            <a:ext cx="1052542" cy="317256"/>
            <a:chOff x="0" y="0"/>
            <a:chExt cx="1685364" cy="508000"/>
          </a:xfrm>
        </p:grpSpPr>
        <p:sp>
          <p:nvSpPr>
            <p:cNvPr name="Freeform 12" id="12"/>
            <p:cNvSpPr/>
            <p:nvPr/>
          </p:nvSpPr>
          <p:spPr>
            <a:xfrm flipH="false" flipV="false" rot="0">
              <a:off x="1237054" y="49530"/>
              <a:ext cx="408940" cy="408940"/>
            </a:xfrm>
            <a:custGeom>
              <a:avLst/>
              <a:gdLst/>
              <a:ahLst/>
              <a:cxnLst/>
              <a:rect r="r" b="b" t="t" l="l"/>
              <a:pathLst>
                <a:path h="408940" w="408940">
                  <a:moveTo>
                    <a:pt x="204470" y="0"/>
                  </a:moveTo>
                  <a:cubicBezTo>
                    <a:pt x="91545" y="0"/>
                    <a:pt x="0" y="91544"/>
                    <a:pt x="0" y="204470"/>
                  </a:cubicBezTo>
                  <a:cubicBezTo>
                    <a:pt x="0" y="317396"/>
                    <a:pt x="91545" y="408940"/>
                    <a:pt x="204470" y="408940"/>
                  </a:cubicBezTo>
                  <a:cubicBezTo>
                    <a:pt x="317396" y="408940"/>
                    <a:pt x="408940" y="317396"/>
                    <a:pt x="408940" y="204470"/>
                  </a:cubicBezTo>
                  <a:cubicBezTo>
                    <a:pt x="408940" y="91544"/>
                    <a:pt x="317396" y="0"/>
                    <a:pt x="204470" y="0"/>
                  </a:cubicBezTo>
                  <a:close/>
                </a:path>
              </a:pathLst>
            </a:custGeom>
            <a:solidFill>
              <a:srgbClr val="37C9EF"/>
            </a:solidFill>
          </p:spPr>
        </p:sp>
        <p:sp>
          <p:nvSpPr>
            <p:cNvPr name="Freeform 13" id="13"/>
            <p:cNvSpPr/>
            <p:nvPr/>
          </p:nvSpPr>
          <p:spPr>
            <a:xfrm flipH="false" flipV="false" rot="0">
              <a:off x="0" y="11430"/>
              <a:ext cx="1685365" cy="485140"/>
            </a:xfrm>
            <a:custGeom>
              <a:avLst/>
              <a:gdLst/>
              <a:ahLst/>
              <a:cxnLst/>
              <a:rect r="r" b="b" t="t" l="l"/>
              <a:pathLst>
                <a:path h="485140" w="1685365">
                  <a:moveTo>
                    <a:pt x="1441524" y="0"/>
                  </a:moveTo>
                  <a:cubicBezTo>
                    <a:pt x="1320874" y="0"/>
                    <a:pt x="1220544" y="88900"/>
                    <a:pt x="1201494" y="204470"/>
                  </a:cubicBezTo>
                  <a:lnTo>
                    <a:pt x="0" y="204470"/>
                  </a:lnTo>
                  <a:lnTo>
                    <a:pt x="0" y="280670"/>
                  </a:lnTo>
                  <a:lnTo>
                    <a:pt x="1202764" y="280670"/>
                  </a:lnTo>
                  <a:cubicBezTo>
                    <a:pt x="1220544" y="396240"/>
                    <a:pt x="1322144" y="485140"/>
                    <a:pt x="1442794" y="485140"/>
                  </a:cubicBezTo>
                  <a:cubicBezTo>
                    <a:pt x="1577415" y="485140"/>
                    <a:pt x="1685365" y="375920"/>
                    <a:pt x="1685365" y="242570"/>
                  </a:cubicBezTo>
                  <a:cubicBezTo>
                    <a:pt x="1685365" y="107950"/>
                    <a:pt x="1576144" y="0"/>
                    <a:pt x="1441524" y="0"/>
                  </a:cubicBezTo>
                  <a:close/>
                  <a:moveTo>
                    <a:pt x="1441524" y="408940"/>
                  </a:moveTo>
                  <a:cubicBezTo>
                    <a:pt x="1350084" y="408940"/>
                    <a:pt x="1275154" y="334010"/>
                    <a:pt x="1275154" y="242570"/>
                  </a:cubicBezTo>
                  <a:cubicBezTo>
                    <a:pt x="1275154" y="151130"/>
                    <a:pt x="1350084" y="76200"/>
                    <a:pt x="1441524" y="76200"/>
                  </a:cubicBezTo>
                  <a:cubicBezTo>
                    <a:pt x="1532965" y="76200"/>
                    <a:pt x="1607894" y="151130"/>
                    <a:pt x="1607894" y="242570"/>
                  </a:cubicBezTo>
                  <a:cubicBezTo>
                    <a:pt x="1609165" y="334010"/>
                    <a:pt x="1534234" y="408940"/>
                    <a:pt x="1441524" y="408940"/>
                  </a:cubicBezTo>
                  <a:close/>
                </a:path>
              </a:pathLst>
            </a:custGeom>
            <a:solidFill>
              <a:srgbClr val="191919"/>
            </a:solidFill>
          </p:spPr>
        </p:sp>
      </p:grpSp>
      <p:grpSp>
        <p:nvGrpSpPr>
          <p:cNvPr name="Group 14" id="14"/>
          <p:cNvGrpSpPr/>
          <p:nvPr/>
        </p:nvGrpSpPr>
        <p:grpSpPr>
          <a:xfrm rot="-5400000">
            <a:off x="8617729" y="6468318"/>
            <a:ext cx="1052542" cy="317256"/>
            <a:chOff x="0" y="0"/>
            <a:chExt cx="1685364" cy="508000"/>
          </a:xfrm>
        </p:grpSpPr>
        <p:sp>
          <p:nvSpPr>
            <p:cNvPr name="Freeform 15" id="15"/>
            <p:cNvSpPr/>
            <p:nvPr/>
          </p:nvSpPr>
          <p:spPr>
            <a:xfrm flipH="false" flipV="false" rot="0">
              <a:off x="1237054" y="49530"/>
              <a:ext cx="408940" cy="408940"/>
            </a:xfrm>
            <a:custGeom>
              <a:avLst/>
              <a:gdLst/>
              <a:ahLst/>
              <a:cxnLst/>
              <a:rect r="r" b="b" t="t" l="l"/>
              <a:pathLst>
                <a:path h="408940" w="408940">
                  <a:moveTo>
                    <a:pt x="204470" y="0"/>
                  </a:moveTo>
                  <a:cubicBezTo>
                    <a:pt x="91545" y="0"/>
                    <a:pt x="0" y="91544"/>
                    <a:pt x="0" y="204470"/>
                  </a:cubicBezTo>
                  <a:cubicBezTo>
                    <a:pt x="0" y="317396"/>
                    <a:pt x="91545" y="408940"/>
                    <a:pt x="204470" y="408940"/>
                  </a:cubicBezTo>
                  <a:cubicBezTo>
                    <a:pt x="317396" y="408940"/>
                    <a:pt x="408940" y="317396"/>
                    <a:pt x="408940" y="204470"/>
                  </a:cubicBezTo>
                  <a:cubicBezTo>
                    <a:pt x="408940" y="91544"/>
                    <a:pt x="317396" y="0"/>
                    <a:pt x="204470" y="0"/>
                  </a:cubicBezTo>
                  <a:close/>
                </a:path>
              </a:pathLst>
            </a:custGeom>
            <a:solidFill>
              <a:srgbClr val="2C92D5"/>
            </a:solidFill>
          </p:spPr>
        </p:sp>
        <p:sp>
          <p:nvSpPr>
            <p:cNvPr name="Freeform 16" id="16"/>
            <p:cNvSpPr/>
            <p:nvPr/>
          </p:nvSpPr>
          <p:spPr>
            <a:xfrm flipH="false" flipV="false" rot="0">
              <a:off x="0" y="11430"/>
              <a:ext cx="1685365" cy="485140"/>
            </a:xfrm>
            <a:custGeom>
              <a:avLst/>
              <a:gdLst/>
              <a:ahLst/>
              <a:cxnLst/>
              <a:rect r="r" b="b" t="t" l="l"/>
              <a:pathLst>
                <a:path h="485140" w="1685365">
                  <a:moveTo>
                    <a:pt x="1441524" y="0"/>
                  </a:moveTo>
                  <a:cubicBezTo>
                    <a:pt x="1320874" y="0"/>
                    <a:pt x="1220544" y="88900"/>
                    <a:pt x="1201494" y="204470"/>
                  </a:cubicBezTo>
                  <a:lnTo>
                    <a:pt x="0" y="204470"/>
                  </a:lnTo>
                  <a:lnTo>
                    <a:pt x="0" y="280670"/>
                  </a:lnTo>
                  <a:lnTo>
                    <a:pt x="1202764" y="280670"/>
                  </a:lnTo>
                  <a:cubicBezTo>
                    <a:pt x="1220544" y="396240"/>
                    <a:pt x="1322144" y="485140"/>
                    <a:pt x="1442794" y="485140"/>
                  </a:cubicBezTo>
                  <a:cubicBezTo>
                    <a:pt x="1577415" y="485140"/>
                    <a:pt x="1685365" y="375920"/>
                    <a:pt x="1685365" y="242570"/>
                  </a:cubicBezTo>
                  <a:cubicBezTo>
                    <a:pt x="1685365" y="107950"/>
                    <a:pt x="1576144" y="0"/>
                    <a:pt x="1441524" y="0"/>
                  </a:cubicBezTo>
                  <a:close/>
                  <a:moveTo>
                    <a:pt x="1441524" y="408940"/>
                  </a:moveTo>
                  <a:cubicBezTo>
                    <a:pt x="1350084" y="408940"/>
                    <a:pt x="1275154" y="334010"/>
                    <a:pt x="1275154" y="242570"/>
                  </a:cubicBezTo>
                  <a:cubicBezTo>
                    <a:pt x="1275154" y="151130"/>
                    <a:pt x="1350084" y="76200"/>
                    <a:pt x="1441524" y="76200"/>
                  </a:cubicBezTo>
                  <a:cubicBezTo>
                    <a:pt x="1532965" y="76200"/>
                    <a:pt x="1607894" y="151130"/>
                    <a:pt x="1607894" y="242570"/>
                  </a:cubicBezTo>
                  <a:cubicBezTo>
                    <a:pt x="1609165" y="334010"/>
                    <a:pt x="1534234" y="408940"/>
                    <a:pt x="1441524" y="408940"/>
                  </a:cubicBezTo>
                  <a:close/>
                </a:path>
              </a:pathLst>
            </a:custGeom>
            <a:solidFill>
              <a:srgbClr val="191919"/>
            </a:solidFill>
          </p:spPr>
        </p:sp>
      </p:grpSp>
      <p:grpSp>
        <p:nvGrpSpPr>
          <p:cNvPr name="Group 17" id="17"/>
          <p:cNvGrpSpPr/>
          <p:nvPr/>
        </p:nvGrpSpPr>
        <p:grpSpPr>
          <a:xfrm rot="-5400000">
            <a:off x="8617729" y="7520860"/>
            <a:ext cx="1052542" cy="317256"/>
            <a:chOff x="0" y="0"/>
            <a:chExt cx="1685364" cy="508000"/>
          </a:xfrm>
        </p:grpSpPr>
        <p:sp>
          <p:nvSpPr>
            <p:cNvPr name="Freeform 18" id="18"/>
            <p:cNvSpPr/>
            <p:nvPr/>
          </p:nvSpPr>
          <p:spPr>
            <a:xfrm flipH="false" flipV="false" rot="0">
              <a:off x="1237054" y="49530"/>
              <a:ext cx="408940" cy="408940"/>
            </a:xfrm>
            <a:custGeom>
              <a:avLst/>
              <a:gdLst/>
              <a:ahLst/>
              <a:cxnLst/>
              <a:rect r="r" b="b" t="t" l="l"/>
              <a:pathLst>
                <a:path h="408940" w="408940">
                  <a:moveTo>
                    <a:pt x="204470" y="0"/>
                  </a:moveTo>
                  <a:cubicBezTo>
                    <a:pt x="91545" y="0"/>
                    <a:pt x="0" y="91544"/>
                    <a:pt x="0" y="204470"/>
                  </a:cubicBezTo>
                  <a:cubicBezTo>
                    <a:pt x="0" y="317396"/>
                    <a:pt x="91545" y="408940"/>
                    <a:pt x="204470" y="408940"/>
                  </a:cubicBezTo>
                  <a:cubicBezTo>
                    <a:pt x="317396" y="408940"/>
                    <a:pt x="408940" y="317396"/>
                    <a:pt x="408940" y="204470"/>
                  </a:cubicBezTo>
                  <a:cubicBezTo>
                    <a:pt x="408940" y="91544"/>
                    <a:pt x="317396" y="0"/>
                    <a:pt x="204470" y="0"/>
                  </a:cubicBezTo>
                  <a:close/>
                </a:path>
              </a:pathLst>
            </a:custGeom>
            <a:solidFill>
              <a:srgbClr val="13538A"/>
            </a:solidFill>
          </p:spPr>
        </p:sp>
        <p:sp>
          <p:nvSpPr>
            <p:cNvPr name="Freeform 19" id="19"/>
            <p:cNvSpPr/>
            <p:nvPr/>
          </p:nvSpPr>
          <p:spPr>
            <a:xfrm flipH="false" flipV="false" rot="0">
              <a:off x="0" y="11430"/>
              <a:ext cx="1685365" cy="485140"/>
            </a:xfrm>
            <a:custGeom>
              <a:avLst/>
              <a:gdLst/>
              <a:ahLst/>
              <a:cxnLst/>
              <a:rect r="r" b="b" t="t" l="l"/>
              <a:pathLst>
                <a:path h="485140" w="1685365">
                  <a:moveTo>
                    <a:pt x="1441524" y="0"/>
                  </a:moveTo>
                  <a:cubicBezTo>
                    <a:pt x="1320874" y="0"/>
                    <a:pt x="1220544" y="88900"/>
                    <a:pt x="1201494" y="204470"/>
                  </a:cubicBezTo>
                  <a:lnTo>
                    <a:pt x="0" y="204470"/>
                  </a:lnTo>
                  <a:lnTo>
                    <a:pt x="0" y="280670"/>
                  </a:lnTo>
                  <a:lnTo>
                    <a:pt x="1202764" y="280670"/>
                  </a:lnTo>
                  <a:cubicBezTo>
                    <a:pt x="1220544" y="396240"/>
                    <a:pt x="1322144" y="485140"/>
                    <a:pt x="1442794" y="485140"/>
                  </a:cubicBezTo>
                  <a:cubicBezTo>
                    <a:pt x="1577415" y="485140"/>
                    <a:pt x="1685365" y="375920"/>
                    <a:pt x="1685365" y="242570"/>
                  </a:cubicBezTo>
                  <a:cubicBezTo>
                    <a:pt x="1685365" y="107950"/>
                    <a:pt x="1576144" y="0"/>
                    <a:pt x="1441524" y="0"/>
                  </a:cubicBezTo>
                  <a:close/>
                  <a:moveTo>
                    <a:pt x="1441524" y="408940"/>
                  </a:moveTo>
                  <a:cubicBezTo>
                    <a:pt x="1350084" y="408940"/>
                    <a:pt x="1275154" y="334010"/>
                    <a:pt x="1275154" y="242570"/>
                  </a:cubicBezTo>
                  <a:cubicBezTo>
                    <a:pt x="1275154" y="151130"/>
                    <a:pt x="1350084" y="76200"/>
                    <a:pt x="1441524" y="76200"/>
                  </a:cubicBezTo>
                  <a:cubicBezTo>
                    <a:pt x="1532965" y="76200"/>
                    <a:pt x="1607894" y="151130"/>
                    <a:pt x="1607894" y="242570"/>
                  </a:cubicBezTo>
                  <a:cubicBezTo>
                    <a:pt x="1609165" y="334010"/>
                    <a:pt x="1534234" y="408940"/>
                    <a:pt x="1441524" y="408940"/>
                  </a:cubicBezTo>
                  <a:close/>
                </a:path>
              </a:pathLst>
            </a:custGeom>
            <a:solidFill>
              <a:srgbClr val="191919"/>
            </a:solidFill>
          </p:spPr>
        </p:sp>
      </p:grpSp>
      <p:grpSp>
        <p:nvGrpSpPr>
          <p:cNvPr name="Group 20" id="20"/>
          <p:cNvGrpSpPr/>
          <p:nvPr/>
        </p:nvGrpSpPr>
        <p:grpSpPr>
          <a:xfrm rot="-5400000">
            <a:off x="8617729" y="8573401"/>
            <a:ext cx="1052542" cy="317256"/>
            <a:chOff x="0" y="0"/>
            <a:chExt cx="1685364" cy="508000"/>
          </a:xfrm>
        </p:grpSpPr>
        <p:sp>
          <p:nvSpPr>
            <p:cNvPr name="Freeform 21" id="21"/>
            <p:cNvSpPr/>
            <p:nvPr/>
          </p:nvSpPr>
          <p:spPr>
            <a:xfrm flipH="false" flipV="false" rot="0">
              <a:off x="1237054" y="49530"/>
              <a:ext cx="408940" cy="408940"/>
            </a:xfrm>
            <a:custGeom>
              <a:avLst/>
              <a:gdLst/>
              <a:ahLst/>
              <a:cxnLst/>
              <a:rect r="r" b="b" t="t" l="l"/>
              <a:pathLst>
                <a:path h="408940" w="408940">
                  <a:moveTo>
                    <a:pt x="204470" y="0"/>
                  </a:moveTo>
                  <a:cubicBezTo>
                    <a:pt x="91545" y="0"/>
                    <a:pt x="0" y="91544"/>
                    <a:pt x="0" y="204470"/>
                  </a:cubicBezTo>
                  <a:cubicBezTo>
                    <a:pt x="0" y="317396"/>
                    <a:pt x="91545" y="408940"/>
                    <a:pt x="204470" y="408940"/>
                  </a:cubicBezTo>
                  <a:cubicBezTo>
                    <a:pt x="317396" y="408940"/>
                    <a:pt x="408940" y="317396"/>
                    <a:pt x="408940" y="204470"/>
                  </a:cubicBezTo>
                  <a:cubicBezTo>
                    <a:pt x="408940" y="91544"/>
                    <a:pt x="317396" y="0"/>
                    <a:pt x="204470" y="0"/>
                  </a:cubicBezTo>
                  <a:close/>
                </a:path>
              </a:pathLst>
            </a:custGeom>
            <a:solidFill>
              <a:srgbClr val="191919"/>
            </a:solidFill>
          </p:spPr>
        </p:sp>
        <p:sp>
          <p:nvSpPr>
            <p:cNvPr name="Freeform 22" id="22"/>
            <p:cNvSpPr/>
            <p:nvPr/>
          </p:nvSpPr>
          <p:spPr>
            <a:xfrm flipH="false" flipV="false" rot="0">
              <a:off x="0" y="11430"/>
              <a:ext cx="1685365" cy="485140"/>
            </a:xfrm>
            <a:custGeom>
              <a:avLst/>
              <a:gdLst/>
              <a:ahLst/>
              <a:cxnLst/>
              <a:rect r="r" b="b" t="t" l="l"/>
              <a:pathLst>
                <a:path h="485140" w="1685365">
                  <a:moveTo>
                    <a:pt x="1441524" y="0"/>
                  </a:moveTo>
                  <a:cubicBezTo>
                    <a:pt x="1320874" y="0"/>
                    <a:pt x="1220544" y="88900"/>
                    <a:pt x="1201494" y="204470"/>
                  </a:cubicBezTo>
                  <a:lnTo>
                    <a:pt x="0" y="204470"/>
                  </a:lnTo>
                  <a:lnTo>
                    <a:pt x="0" y="280670"/>
                  </a:lnTo>
                  <a:lnTo>
                    <a:pt x="1202764" y="280670"/>
                  </a:lnTo>
                  <a:cubicBezTo>
                    <a:pt x="1220544" y="396240"/>
                    <a:pt x="1322144" y="485140"/>
                    <a:pt x="1442794" y="485140"/>
                  </a:cubicBezTo>
                  <a:cubicBezTo>
                    <a:pt x="1577415" y="485140"/>
                    <a:pt x="1685365" y="375920"/>
                    <a:pt x="1685365" y="242570"/>
                  </a:cubicBezTo>
                  <a:cubicBezTo>
                    <a:pt x="1685365" y="107950"/>
                    <a:pt x="1576144" y="0"/>
                    <a:pt x="1441524" y="0"/>
                  </a:cubicBezTo>
                  <a:close/>
                  <a:moveTo>
                    <a:pt x="1441524" y="408940"/>
                  </a:moveTo>
                  <a:cubicBezTo>
                    <a:pt x="1350084" y="408940"/>
                    <a:pt x="1275154" y="334010"/>
                    <a:pt x="1275154" y="242570"/>
                  </a:cubicBezTo>
                  <a:cubicBezTo>
                    <a:pt x="1275154" y="151130"/>
                    <a:pt x="1350084" y="76200"/>
                    <a:pt x="1441524" y="76200"/>
                  </a:cubicBezTo>
                  <a:cubicBezTo>
                    <a:pt x="1532965" y="76200"/>
                    <a:pt x="1607894" y="151130"/>
                    <a:pt x="1607894" y="242570"/>
                  </a:cubicBezTo>
                  <a:cubicBezTo>
                    <a:pt x="1609165" y="334010"/>
                    <a:pt x="1534234" y="408940"/>
                    <a:pt x="1441524" y="408940"/>
                  </a:cubicBezTo>
                  <a:close/>
                </a:path>
              </a:pathLst>
            </a:custGeom>
            <a:solidFill>
              <a:srgbClr val="191919"/>
            </a:solidFill>
          </p:spPr>
        </p:sp>
      </p:grpSp>
      <p:grpSp>
        <p:nvGrpSpPr>
          <p:cNvPr name="Group 23" id="23"/>
          <p:cNvGrpSpPr/>
          <p:nvPr/>
        </p:nvGrpSpPr>
        <p:grpSpPr>
          <a:xfrm rot="0">
            <a:off x="10719570" y="2943050"/>
            <a:ext cx="4956102" cy="938195"/>
            <a:chOff x="0" y="0"/>
            <a:chExt cx="6608135" cy="1250926"/>
          </a:xfrm>
        </p:grpSpPr>
        <p:sp>
          <p:nvSpPr>
            <p:cNvPr name="TextBox 24" id="24"/>
            <p:cNvSpPr txBox="true"/>
            <p:nvPr/>
          </p:nvSpPr>
          <p:spPr>
            <a:xfrm rot="0">
              <a:off x="0" y="712446"/>
              <a:ext cx="6608135" cy="551180"/>
            </a:xfrm>
            <a:prstGeom prst="rect">
              <a:avLst/>
            </a:prstGeom>
          </p:spPr>
          <p:txBody>
            <a:bodyPr anchor="t" rtlCol="false" tIns="0" lIns="0" bIns="0" rIns="0">
              <a:spAutoFit/>
            </a:bodyPr>
            <a:lstStyle/>
            <a:p>
              <a:pPr algn="l">
                <a:lnSpc>
                  <a:spcPts val="3599"/>
                </a:lnSpc>
              </a:pPr>
              <a:r>
                <a:rPr lang="en-US" sz="2399" spc="119">
                  <a:solidFill>
                    <a:srgbClr val="191919"/>
                  </a:solidFill>
                  <a:latin typeface="Arimo"/>
                  <a:ea typeface="Arimo"/>
                  <a:cs typeface="Arimo"/>
                  <a:sym typeface="Arimo"/>
                </a:rPr>
                <a:t>Hiếu rõ mục tiêu của bài toán</a:t>
              </a:r>
            </a:p>
          </p:txBody>
        </p:sp>
        <p:sp>
          <p:nvSpPr>
            <p:cNvPr name="TextBox 25" id="25"/>
            <p:cNvSpPr txBox="true"/>
            <p:nvPr/>
          </p:nvSpPr>
          <p:spPr>
            <a:xfrm rot="0">
              <a:off x="0" y="-47625"/>
              <a:ext cx="6608135" cy="614553"/>
            </a:xfrm>
            <a:prstGeom prst="rect">
              <a:avLst/>
            </a:prstGeom>
          </p:spPr>
          <p:txBody>
            <a:bodyPr anchor="t" rtlCol="false" tIns="0" lIns="0" bIns="0" rIns="0">
              <a:spAutoFit/>
            </a:bodyPr>
            <a:lstStyle/>
            <a:p>
              <a:pPr algn="l" marL="0" indent="0" lvl="0">
                <a:lnSpc>
                  <a:spcPts val="3611"/>
                </a:lnSpc>
                <a:spcBef>
                  <a:spcPct val="0"/>
                </a:spcBef>
              </a:pPr>
              <a:r>
                <a:rPr lang="en-US" b="true" sz="2799" spc="109">
                  <a:solidFill>
                    <a:srgbClr val="191919"/>
                  </a:solidFill>
                  <a:latin typeface="Arimo Bold"/>
                  <a:ea typeface="Arimo Bold"/>
                  <a:cs typeface="Arimo Bold"/>
                  <a:sym typeface="Arimo Bold"/>
                </a:rPr>
                <a:t>Tìm hiểu bài toán</a:t>
              </a:r>
            </a:p>
          </p:txBody>
        </p:sp>
      </p:grpSp>
      <p:grpSp>
        <p:nvGrpSpPr>
          <p:cNvPr name="Group 26" id="26"/>
          <p:cNvGrpSpPr/>
          <p:nvPr/>
        </p:nvGrpSpPr>
        <p:grpSpPr>
          <a:xfrm rot="0">
            <a:off x="10719570" y="5048133"/>
            <a:ext cx="4956102" cy="938195"/>
            <a:chOff x="0" y="0"/>
            <a:chExt cx="6608135" cy="1250926"/>
          </a:xfrm>
        </p:grpSpPr>
        <p:sp>
          <p:nvSpPr>
            <p:cNvPr name="TextBox 27" id="27"/>
            <p:cNvSpPr txBox="true"/>
            <p:nvPr/>
          </p:nvSpPr>
          <p:spPr>
            <a:xfrm rot="0">
              <a:off x="0" y="712446"/>
              <a:ext cx="6608135" cy="551180"/>
            </a:xfrm>
            <a:prstGeom prst="rect">
              <a:avLst/>
            </a:prstGeom>
          </p:spPr>
          <p:txBody>
            <a:bodyPr anchor="t" rtlCol="false" tIns="0" lIns="0" bIns="0" rIns="0">
              <a:spAutoFit/>
            </a:bodyPr>
            <a:lstStyle/>
            <a:p>
              <a:pPr algn="l">
                <a:lnSpc>
                  <a:spcPts val="3599"/>
                </a:lnSpc>
              </a:pPr>
              <a:r>
                <a:rPr lang="en-US" sz="2399" spc="119">
                  <a:solidFill>
                    <a:srgbClr val="191919"/>
                  </a:solidFill>
                  <a:latin typeface="Arimo"/>
                  <a:ea typeface="Arimo"/>
                  <a:cs typeface="Arimo"/>
                  <a:sym typeface="Arimo"/>
                </a:rPr>
                <a:t>Tập dữ liệu sử dụng</a:t>
              </a:r>
            </a:p>
          </p:txBody>
        </p:sp>
        <p:sp>
          <p:nvSpPr>
            <p:cNvPr name="TextBox 28" id="28"/>
            <p:cNvSpPr txBox="true"/>
            <p:nvPr/>
          </p:nvSpPr>
          <p:spPr>
            <a:xfrm rot="0">
              <a:off x="0" y="-47625"/>
              <a:ext cx="6608135" cy="614553"/>
            </a:xfrm>
            <a:prstGeom prst="rect">
              <a:avLst/>
            </a:prstGeom>
          </p:spPr>
          <p:txBody>
            <a:bodyPr anchor="t" rtlCol="false" tIns="0" lIns="0" bIns="0" rIns="0">
              <a:spAutoFit/>
            </a:bodyPr>
            <a:lstStyle/>
            <a:p>
              <a:pPr algn="l" marL="0" indent="0" lvl="0">
                <a:lnSpc>
                  <a:spcPts val="3611"/>
                </a:lnSpc>
                <a:spcBef>
                  <a:spcPct val="0"/>
                </a:spcBef>
              </a:pPr>
              <a:r>
                <a:rPr lang="en-US" b="true" sz="2799" spc="109">
                  <a:solidFill>
                    <a:srgbClr val="191919"/>
                  </a:solidFill>
                  <a:latin typeface="Arimo Bold"/>
                  <a:ea typeface="Arimo Bold"/>
                  <a:cs typeface="Arimo Bold"/>
                  <a:sym typeface="Arimo Bold"/>
                </a:rPr>
                <a:t>D</a:t>
              </a:r>
              <a:r>
                <a:rPr lang="en-US" b="true" sz="2799" spc="109" u="none">
                  <a:solidFill>
                    <a:srgbClr val="191919"/>
                  </a:solidFill>
                  <a:latin typeface="Arimo Bold"/>
                  <a:ea typeface="Arimo Bold"/>
                  <a:cs typeface="Arimo Bold"/>
                  <a:sym typeface="Arimo Bold"/>
                </a:rPr>
                <a:t>ataset </a:t>
              </a:r>
            </a:p>
          </p:txBody>
        </p:sp>
      </p:grpSp>
      <p:grpSp>
        <p:nvGrpSpPr>
          <p:cNvPr name="Group 29" id="29"/>
          <p:cNvGrpSpPr/>
          <p:nvPr/>
        </p:nvGrpSpPr>
        <p:grpSpPr>
          <a:xfrm rot="0">
            <a:off x="10719570" y="7153217"/>
            <a:ext cx="4956102" cy="938195"/>
            <a:chOff x="0" y="0"/>
            <a:chExt cx="6608135" cy="1250926"/>
          </a:xfrm>
        </p:grpSpPr>
        <p:sp>
          <p:nvSpPr>
            <p:cNvPr name="TextBox 30" id="30"/>
            <p:cNvSpPr txBox="true"/>
            <p:nvPr/>
          </p:nvSpPr>
          <p:spPr>
            <a:xfrm rot="0">
              <a:off x="0" y="712446"/>
              <a:ext cx="6608135" cy="551180"/>
            </a:xfrm>
            <a:prstGeom prst="rect">
              <a:avLst/>
            </a:prstGeom>
          </p:spPr>
          <p:txBody>
            <a:bodyPr anchor="t" rtlCol="false" tIns="0" lIns="0" bIns="0" rIns="0">
              <a:spAutoFit/>
            </a:bodyPr>
            <a:lstStyle/>
            <a:p>
              <a:pPr algn="l">
                <a:lnSpc>
                  <a:spcPts val="3599"/>
                </a:lnSpc>
              </a:pPr>
              <a:r>
                <a:rPr lang="en-US" sz="2399" spc="119">
                  <a:solidFill>
                    <a:srgbClr val="191919"/>
                  </a:solidFill>
                  <a:latin typeface="Arimo"/>
                  <a:ea typeface="Arimo"/>
                  <a:cs typeface="Arimo"/>
                  <a:sym typeface="Arimo"/>
                </a:rPr>
                <a:t>Kết hợp CF và CBF</a:t>
              </a:r>
            </a:p>
          </p:txBody>
        </p:sp>
        <p:sp>
          <p:nvSpPr>
            <p:cNvPr name="TextBox 31" id="31"/>
            <p:cNvSpPr txBox="true"/>
            <p:nvPr/>
          </p:nvSpPr>
          <p:spPr>
            <a:xfrm rot="0">
              <a:off x="0" y="-47625"/>
              <a:ext cx="6608135" cy="614553"/>
            </a:xfrm>
            <a:prstGeom prst="rect">
              <a:avLst/>
            </a:prstGeom>
          </p:spPr>
          <p:txBody>
            <a:bodyPr anchor="t" rtlCol="false" tIns="0" lIns="0" bIns="0" rIns="0">
              <a:spAutoFit/>
            </a:bodyPr>
            <a:lstStyle/>
            <a:p>
              <a:pPr algn="l" marL="0" indent="0" lvl="0">
                <a:lnSpc>
                  <a:spcPts val="3611"/>
                </a:lnSpc>
                <a:spcBef>
                  <a:spcPct val="0"/>
                </a:spcBef>
              </a:pPr>
              <a:r>
                <a:rPr lang="en-US" b="true" sz="2799" spc="109">
                  <a:solidFill>
                    <a:srgbClr val="191919"/>
                  </a:solidFill>
                  <a:latin typeface="Arimo Bold"/>
                  <a:ea typeface="Arimo Bold"/>
                  <a:cs typeface="Arimo Bold"/>
                  <a:sym typeface="Arimo Bold"/>
                </a:rPr>
                <a:t>Hybrid</a:t>
              </a:r>
            </a:p>
          </p:txBody>
        </p:sp>
      </p:grpSp>
      <p:grpSp>
        <p:nvGrpSpPr>
          <p:cNvPr name="Group 32" id="32"/>
          <p:cNvGrpSpPr/>
          <p:nvPr/>
        </p:nvGrpSpPr>
        <p:grpSpPr>
          <a:xfrm rot="0">
            <a:off x="1903852" y="3995591"/>
            <a:ext cx="5664578" cy="938195"/>
            <a:chOff x="0" y="0"/>
            <a:chExt cx="7552771" cy="1250926"/>
          </a:xfrm>
        </p:grpSpPr>
        <p:sp>
          <p:nvSpPr>
            <p:cNvPr name="TextBox 33" id="33"/>
            <p:cNvSpPr txBox="true"/>
            <p:nvPr/>
          </p:nvSpPr>
          <p:spPr>
            <a:xfrm rot="0">
              <a:off x="0" y="712446"/>
              <a:ext cx="7552771" cy="551180"/>
            </a:xfrm>
            <a:prstGeom prst="rect">
              <a:avLst/>
            </a:prstGeom>
          </p:spPr>
          <p:txBody>
            <a:bodyPr anchor="t" rtlCol="false" tIns="0" lIns="0" bIns="0" rIns="0">
              <a:spAutoFit/>
            </a:bodyPr>
            <a:lstStyle/>
            <a:p>
              <a:pPr algn="r">
                <a:lnSpc>
                  <a:spcPts val="3599"/>
                </a:lnSpc>
              </a:pPr>
              <a:r>
                <a:rPr lang="en-US" sz="2399" spc="119">
                  <a:solidFill>
                    <a:srgbClr val="191919"/>
                  </a:solidFill>
                  <a:latin typeface="Arimo"/>
                  <a:ea typeface="Arimo"/>
                  <a:cs typeface="Arimo"/>
                  <a:sym typeface="Arimo"/>
                </a:rPr>
                <a:t>Độ chính xác của mô hình</a:t>
              </a:r>
            </a:p>
          </p:txBody>
        </p:sp>
        <p:sp>
          <p:nvSpPr>
            <p:cNvPr name="TextBox 34" id="34"/>
            <p:cNvSpPr txBox="true"/>
            <p:nvPr/>
          </p:nvSpPr>
          <p:spPr>
            <a:xfrm rot="0">
              <a:off x="0" y="-47625"/>
              <a:ext cx="7552771" cy="614553"/>
            </a:xfrm>
            <a:prstGeom prst="rect">
              <a:avLst/>
            </a:prstGeom>
          </p:spPr>
          <p:txBody>
            <a:bodyPr anchor="t" rtlCol="false" tIns="0" lIns="0" bIns="0" rIns="0">
              <a:spAutoFit/>
            </a:bodyPr>
            <a:lstStyle/>
            <a:p>
              <a:pPr algn="r" marL="0" indent="0" lvl="0">
                <a:lnSpc>
                  <a:spcPts val="3611"/>
                </a:lnSpc>
                <a:spcBef>
                  <a:spcPct val="0"/>
                </a:spcBef>
              </a:pPr>
              <a:r>
                <a:rPr lang="en-US" b="true" sz="2799" spc="109">
                  <a:solidFill>
                    <a:srgbClr val="191919"/>
                  </a:solidFill>
                  <a:latin typeface="Arimo Bold"/>
                  <a:ea typeface="Arimo Bold"/>
                  <a:cs typeface="Arimo Bold"/>
                  <a:sym typeface="Arimo Bold"/>
                </a:rPr>
                <a:t>Độ</a:t>
              </a:r>
              <a:r>
                <a:rPr lang="en-US" b="true" sz="2799" spc="109" u="none">
                  <a:solidFill>
                    <a:srgbClr val="191919"/>
                  </a:solidFill>
                  <a:latin typeface="Arimo Bold"/>
                  <a:ea typeface="Arimo Bold"/>
                  <a:cs typeface="Arimo Bold"/>
                  <a:sym typeface="Arimo Bold"/>
                </a:rPr>
                <a:t> đo:</a:t>
              </a:r>
            </a:p>
          </p:txBody>
        </p:sp>
      </p:grpSp>
      <p:grpSp>
        <p:nvGrpSpPr>
          <p:cNvPr name="Group 35" id="35"/>
          <p:cNvGrpSpPr/>
          <p:nvPr/>
        </p:nvGrpSpPr>
        <p:grpSpPr>
          <a:xfrm rot="0">
            <a:off x="1903852" y="6100675"/>
            <a:ext cx="5664578" cy="938195"/>
            <a:chOff x="0" y="0"/>
            <a:chExt cx="7552771" cy="1250926"/>
          </a:xfrm>
        </p:grpSpPr>
        <p:sp>
          <p:nvSpPr>
            <p:cNvPr name="TextBox 36" id="36"/>
            <p:cNvSpPr txBox="true"/>
            <p:nvPr/>
          </p:nvSpPr>
          <p:spPr>
            <a:xfrm rot="0">
              <a:off x="0" y="712446"/>
              <a:ext cx="7552771" cy="551180"/>
            </a:xfrm>
            <a:prstGeom prst="rect">
              <a:avLst/>
            </a:prstGeom>
          </p:spPr>
          <p:txBody>
            <a:bodyPr anchor="t" rtlCol="false" tIns="0" lIns="0" bIns="0" rIns="0">
              <a:spAutoFit/>
            </a:bodyPr>
            <a:lstStyle/>
            <a:p>
              <a:pPr algn="r">
                <a:lnSpc>
                  <a:spcPts val="3599"/>
                </a:lnSpc>
              </a:pPr>
              <a:r>
                <a:rPr lang="en-US" sz="2399" spc="119">
                  <a:solidFill>
                    <a:srgbClr val="191919"/>
                  </a:solidFill>
                  <a:latin typeface="Arimo"/>
                  <a:ea typeface="Arimo"/>
                  <a:cs typeface="Arimo"/>
                  <a:sym typeface="Arimo"/>
                </a:rPr>
                <a:t>Các mô hình được áp dụng</a:t>
              </a:r>
            </a:p>
          </p:txBody>
        </p:sp>
        <p:sp>
          <p:nvSpPr>
            <p:cNvPr name="TextBox 37" id="37"/>
            <p:cNvSpPr txBox="true"/>
            <p:nvPr/>
          </p:nvSpPr>
          <p:spPr>
            <a:xfrm rot="0">
              <a:off x="0" y="-47625"/>
              <a:ext cx="7552771" cy="614553"/>
            </a:xfrm>
            <a:prstGeom prst="rect">
              <a:avLst/>
            </a:prstGeom>
          </p:spPr>
          <p:txBody>
            <a:bodyPr anchor="t" rtlCol="false" tIns="0" lIns="0" bIns="0" rIns="0">
              <a:spAutoFit/>
            </a:bodyPr>
            <a:lstStyle/>
            <a:p>
              <a:pPr algn="r" marL="0" indent="0" lvl="0">
                <a:lnSpc>
                  <a:spcPts val="3611"/>
                </a:lnSpc>
                <a:spcBef>
                  <a:spcPct val="0"/>
                </a:spcBef>
              </a:pPr>
              <a:r>
                <a:rPr lang="en-US" b="true" sz="2799" spc="109">
                  <a:solidFill>
                    <a:srgbClr val="191919"/>
                  </a:solidFill>
                  <a:latin typeface="Arimo Bold"/>
                  <a:ea typeface="Arimo Bold"/>
                  <a:cs typeface="Arimo Bold"/>
                  <a:sym typeface="Arimo Bold"/>
                </a:rPr>
                <a:t>M</a:t>
              </a:r>
              <a:r>
                <a:rPr lang="en-US" b="true" sz="2799" spc="109" u="none">
                  <a:solidFill>
                    <a:srgbClr val="191919"/>
                  </a:solidFill>
                  <a:latin typeface="Arimo Bold"/>
                  <a:ea typeface="Arimo Bold"/>
                  <a:cs typeface="Arimo Bold"/>
                  <a:sym typeface="Arimo Bold"/>
                </a:rPr>
                <a:t>odel </a:t>
              </a:r>
            </a:p>
          </p:txBody>
        </p:sp>
      </p:grpSp>
      <p:grpSp>
        <p:nvGrpSpPr>
          <p:cNvPr name="Group 38" id="38"/>
          <p:cNvGrpSpPr/>
          <p:nvPr/>
        </p:nvGrpSpPr>
        <p:grpSpPr>
          <a:xfrm rot="0">
            <a:off x="2612329" y="8205758"/>
            <a:ext cx="4956102" cy="938195"/>
            <a:chOff x="0" y="0"/>
            <a:chExt cx="6608135" cy="1250926"/>
          </a:xfrm>
        </p:grpSpPr>
        <p:sp>
          <p:nvSpPr>
            <p:cNvPr name="TextBox 39" id="39"/>
            <p:cNvSpPr txBox="true"/>
            <p:nvPr/>
          </p:nvSpPr>
          <p:spPr>
            <a:xfrm rot="0">
              <a:off x="0" y="712446"/>
              <a:ext cx="6608135" cy="551180"/>
            </a:xfrm>
            <a:prstGeom prst="rect">
              <a:avLst/>
            </a:prstGeom>
          </p:spPr>
          <p:txBody>
            <a:bodyPr anchor="t" rtlCol="false" tIns="0" lIns="0" bIns="0" rIns="0">
              <a:spAutoFit/>
            </a:bodyPr>
            <a:lstStyle/>
            <a:p>
              <a:pPr algn="r">
                <a:lnSpc>
                  <a:spcPts val="3599"/>
                </a:lnSpc>
              </a:pPr>
            </a:p>
          </p:txBody>
        </p:sp>
        <p:sp>
          <p:nvSpPr>
            <p:cNvPr name="TextBox 40" id="40"/>
            <p:cNvSpPr txBox="true"/>
            <p:nvPr/>
          </p:nvSpPr>
          <p:spPr>
            <a:xfrm rot="0">
              <a:off x="0" y="-47625"/>
              <a:ext cx="6608135" cy="614553"/>
            </a:xfrm>
            <a:prstGeom prst="rect">
              <a:avLst/>
            </a:prstGeom>
          </p:spPr>
          <p:txBody>
            <a:bodyPr anchor="t" rtlCol="false" tIns="0" lIns="0" bIns="0" rIns="0">
              <a:spAutoFit/>
            </a:bodyPr>
            <a:lstStyle/>
            <a:p>
              <a:pPr algn="r" marL="0" indent="0" lvl="0">
                <a:lnSpc>
                  <a:spcPts val="3611"/>
                </a:lnSpc>
                <a:spcBef>
                  <a:spcPct val="0"/>
                </a:spcBef>
              </a:pPr>
              <a:r>
                <a:rPr lang="en-US" b="true" sz="2799" spc="109">
                  <a:solidFill>
                    <a:srgbClr val="191919"/>
                  </a:solidFill>
                  <a:latin typeface="Arimo Bold"/>
                  <a:ea typeface="Arimo Bold"/>
                  <a:cs typeface="Arimo Bold"/>
                  <a:sym typeface="Arimo Bold"/>
                </a:rPr>
                <a:t>Kết quả</a:t>
              </a:r>
            </a:p>
          </p:txBody>
        </p:sp>
      </p:grpSp>
      <p:sp>
        <p:nvSpPr>
          <p:cNvPr name="AutoShape 41" id="41"/>
          <p:cNvSpPr/>
          <p:nvPr/>
        </p:nvSpPr>
        <p:spPr>
          <a:xfrm rot="0">
            <a:off x="9274289" y="3050358"/>
            <a:ext cx="548768" cy="48848"/>
          </a:xfrm>
          <a:prstGeom prst="rect">
            <a:avLst/>
          </a:prstGeom>
          <a:solidFill>
            <a:srgbClr val="191919"/>
          </a:solidFill>
        </p:spPr>
      </p:sp>
      <p:sp>
        <p:nvSpPr>
          <p:cNvPr name="AutoShape 42" id="42"/>
          <p:cNvSpPr/>
          <p:nvPr/>
        </p:nvSpPr>
        <p:spPr>
          <a:xfrm rot="0">
            <a:off x="9274289" y="5164227"/>
            <a:ext cx="548768" cy="48848"/>
          </a:xfrm>
          <a:prstGeom prst="rect">
            <a:avLst/>
          </a:prstGeom>
          <a:solidFill>
            <a:srgbClr val="191919"/>
          </a:solidFill>
        </p:spPr>
      </p:sp>
      <p:sp>
        <p:nvSpPr>
          <p:cNvPr name="AutoShape 43" id="43"/>
          <p:cNvSpPr/>
          <p:nvPr/>
        </p:nvSpPr>
        <p:spPr>
          <a:xfrm rot="0">
            <a:off x="9274289" y="7269310"/>
            <a:ext cx="548768" cy="48848"/>
          </a:xfrm>
          <a:prstGeom prst="rect">
            <a:avLst/>
          </a:prstGeom>
          <a:solidFill>
            <a:srgbClr val="191919"/>
          </a:solidFill>
        </p:spPr>
      </p:sp>
      <p:sp>
        <p:nvSpPr>
          <p:cNvPr name="AutoShape 44" id="44"/>
          <p:cNvSpPr/>
          <p:nvPr/>
        </p:nvSpPr>
        <p:spPr>
          <a:xfrm rot="0">
            <a:off x="8444224" y="8338650"/>
            <a:ext cx="548768" cy="48848"/>
          </a:xfrm>
          <a:prstGeom prst="rect">
            <a:avLst/>
          </a:prstGeom>
          <a:solidFill>
            <a:srgbClr val="191919"/>
          </a:solidFill>
        </p:spPr>
      </p:sp>
      <p:sp>
        <p:nvSpPr>
          <p:cNvPr name="AutoShape 45" id="45"/>
          <p:cNvSpPr/>
          <p:nvPr/>
        </p:nvSpPr>
        <p:spPr>
          <a:xfrm rot="0">
            <a:off x="8444224" y="6228492"/>
            <a:ext cx="548768" cy="48848"/>
          </a:xfrm>
          <a:prstGeom prst="rect">
            <a:avLst/>
          </a:prstGeom>
          <a:solidFill>
            <a:srgbClr val="191919"/>
          </a:solidFill>
        </p:spPr>
      </p:sp>
      <p:sp>
        <p:nvSpPr>
          <p:cNvPr name="AutoShape 46" id="46"/>
          <p:cNvSpPr/>
          <p:nvPr/>
        </p:nvSpPr>
        <p:spPr>
          <a:xfrm rot="0">
            <a:off x="8444224" y="4123409"/>
            <a:ext cx="548768" cy="48848"/>
          </a:xfrm>
          <a:prstGeom prst="rect">
            <a:avLst/>
          </a:prstGeom>
          <a:solidFill>
            <a:srgbClr val="191919"/>
          </a:solid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832771" y="7574949"/>
            <a:ext cx="3366703" cy="3366703"/>
          </a:xfrm>
          <a:custGeom>
            <a:avLst/>
            <a:gdLst/>
            <a:ahLst/>
            <a:cxnLst/>
            <a:rect r="r" b="b" t="t" l="l"/>
            <a:pathLst>
              <a:path h="3366703" w="3366703">
                <a:moveTo>
                  <a:pt x="0" y="0"/>
                </a:moveTo>
                <a:lnTo>
                  <a:pt x="3366703" y="0"/>
                </a:lnTo>
                <a:lnTo>
                  <a:pt x="3366703" y="3366702"/>
                </a:lnTo>
                <a:lnTo>
                  <a:pt x="0" y="33667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494883" y="-1029278"/>
            <a:ext cx="3244699" cy="3244699"/>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C9EF"/>
            </a:solidFill>
          </p:spPr>
        </p:sp>
      </p:grpSp>
      <p:sp>
        <p:nvSpPr>
          <p:cNvPr name="Freeform 5" id="5"/>
          <p:cNvSpPr/>
          <p:nvPr/>
        </p:nvSpPr>
        <p:spPr>
          <a:xfrm flipH="false" flipV="false" rot="0">
            <a:off x="9144000" y="2215421"/>
            <a:ext cx="32137" cy="6427331"/>
          </a:xfrm>
          <a:custGeom>
            <a:avLst/>
            <a:gdLst/>
            <a:ahLst/>
            <a:cxnLst/>
            <a:rect r="r" b="b" t="t" l="l"/>
            <a:pathLst>
              <a:path h="6427331" w="32137">
                <a:moveTo>
                  <a:pt x="0" y="0"/>
                </a:moveTo>
                <a:lnTo>
                  <a:pt x="32137" y="0"/>
                </a:lnTo>
                <a:lnTo>
                  <a:pt x="32137" y="6427331"/>
                </a:lnTo>
                <a:lnTo>
                  <a:pt x="0" y="64273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6541220" y="1102910"/>
            <a:ext cx="5257749" cy="744474"/>
          </a:xfrm>
          <a:prstGeom prst="rect">
            <a:avLst/>
          </a:prstGeom>
        </p:spPr>
        <p:txBody>
          <a:bodyPr anchor="t" rtlCol="false" tIns="0" lIns="0" bIns="0" rIns="0">
            <a:spAutoFit/>
          </a:bodyPr>
          <a:lstStyle/>
          <a:p>
            <a:pPr algn="l">
              <a:lnSpc>
                <a:spcPts val="5658"/>
              </a:lnSpc>
            </a:pPr>
            <a:r>
              <a:rPr lang="en-US" sz="4600" spc="276" b="true">
                <a:solidFill>
                  <a:srgbClr val="191919"/>
                </a:solidFill>
                <a:latin typeface="Times New Roman Bold"/>
                <a:ea typeface="Times New Roman Bold"/>
                <a:cs typeface="Times New Roman Bold"/>
                <a:sym typeface="Times New Roman Bold"/>
              </a:rPr>
              <a:t>Tì</a:t>
            </a:r>
            <a:r>
              <a:rPr lang="en-US" sz="4600" spc="276" b="true">
                <a:solidFill>
                  <a:srgbClr val="191919"/>
                </a:solidFill>
                <a:latin typeface="Times New Roman Bold"/>
                <a:ea typeface="Times New Roman Bold"/>
                <a:cs typeface="Times New Roman Bold"/>
                <a:sym typeface="Times New Roman Bold"/>
              </a:rPr>
              <a:t>m hiểu bài toán</a:t>
            </a:r>
          </a:p>
        </p:txBody>
      </p:sp>
      <p:sp>
        <p:nvSpPr>
          <p:cNvPr name="TextBox 7" id="7"/>
          <p:cNvSpPr txBox="true"/>
          <p:nvPr/>
        </p:nvSpPr>
        <p:spPr>
          <a:xfrm rot="0">
            <a:off x="2957462" y="2212527"/>
            <a:ext cx="4978718" cy="599440"/>
          </a:xfrm>
          <a:prstGeom prst="rect">
            <a:avLst/>
          </a:prstGeom>
        </p:spPr>
        <p:txBody>
          <a:bodyPr anchor="t" rtlCol="false" tIns="0" lIns="0" bIns="0" rIns="0">
            <a:spAutoFit/>
          </a:bodyPr>
          <a:lstStyle/>
          <a:p>
            <a:pPr algn="ctr">
              <a:lnSpc>
                <a:spcPts val="4759"/>
              </a:lnSpc>
            </a:pPr>
            <a:r>
              <a:rPr lang="en-US" sz="3399" b="true">
                <a:solidFill>
                  <a:srgbClr val="191919"/>
                </a:solidFill>
                <a:latin typeface="Times New Roman Bold"/>
                <a:ea typeface="Times New Roman Bold"/>
                <a:cs typeface="Times New Roman Bold"/>
                <a:sym typeface="Times New Roman Bold"/>
              </a:rPr>
              <a:t>Hệ thống khuyến nghị là gì</a:t>
            </a:r>
          </a:p>
        </p:txBody>
      </p:sp>
      <p:sp>
        <p:nvSpPr>
          <p:cNvPr name="TextBox 8" id="8"/>
          <p:cNvSpPr txBox="true"/>
          <p:nvPr/>
        </p:nvSpPr>
        <p:spPr>
          <a:xfrm rot="0">
            <a:off x="10006568" y="2212527"/>
            <a:ext cx="5728335" cy="599440"/>
          </a:xfrm>
          <a:prstGeom prst="rect">
            <a:avLst/>
          </a:prstGeom>
        </p:spPr>
        <p:txBody>
          <a:bodyPr anchor="t" rtlCol="false" tIns="0" lIns="0" bIns="0" rIns="0">
            <a:spAutoFit/>
          </a:bodyPr>
          <a:lstStyle/>
          <a:p>
            <a:pPr algn="ctr">
              <a:lnSpc>
                <a:spcPts val="4759"/>
              </a:lnSpc>
            </a:pPr>
            <a:r>
              <a:rPr lang="en-US" sz="3399" b="true">
                <a:solidFill>
                  <a:srgbClr val="191919"/>
                </a:solidFill>
                <a:latin typeface="Times New Roman Bold"/>
                <a:ea typeface="Times New Roman Bold"/>
                <a:cs typeface="Times New Roman Bold"/>
                <a:sym typeface="Times New Roman Bold"/>
              </a:rPr>
              <a:t>Các cách để xây dựng hệ thống</a:t>
            </a:r>
          </a:p>
        </p:txBody>
      </p:sp>
      <p:sp>
        <p:nvSpPr>
          <p:cNvPr name="TextBox 9" id="9"/>
          <p:cNvSpPr txBox="true"/>
          <p:nvPr/>
        </p:nvSpPr>
        <p:spPr>
          <a:xfrm rot="0">
            <a:off x="1358228" y="2999850"/>
            <a:ext cx="7688321" cy="5400040"/>
          </a:xfrm>
          <a:prstGeom prst="rect">
            <a:avLst/>
          </a:prstGeom>
        </p:spPr>
        <p:txBody>
          <a:bodyPr anchor="t" rtlCol="false" tIns="0" lIns="0" bIns="0" rIns="0">
            <a:spAutoFit/>
          </a:bodyPr>
          <a:lstStyle/>
          <a:p>
            <a:pPr algn="l">
              <a:lnSpc>
                <a:spcPts val="4759"/>
              </a:lnSpc>
            </a:pPr>
            <a:r>
              <a:rPr lang="en-US" sz="3399">
                <a:solidFill>
                  <a:srgbClr val="191919"/>
                </a:solidFill>
                <a:latin typeface="Times New Roman"/>
                <a:ea typeface="Times New Roman"/>
                <a:cs typeface="Times New Roman"/>
                <a:sym typeface="Times New Roman"/>
              </a:rPr>
              <a:t>Hệ thống khuyến nghị là một hệ thống sử dụng dữ liệu và thuật toán để dự đoán và gợi ý những sản p</a:t>
            </a:r>
            <a:r>
              <a:rPr lang="en-US" sz="3399">
                <a:solidFill>
                  <a:srgbClr val="191919"/>
                </a:solidFill>
                <a:latin typeface="Times New Roman"/>
                <a:ea typeface="Times New Roman"/>
                <a:cs typeface="Times New Roman"/>
                <a:sym typeface="Times New Roman"/>
              </a:rPr>
              <a:t>hẩm, nội dung hoặc hành động mà người dùng có khả năng quan tâm nhất.</a:t>
            </a:r>
          </a:p>
          <a:p>
            <a:pPr algn="l">
              <a:lnSpc>
                <a:spcPts val="4759"/>
              </a:lnSpc>
            </a:pPr>
            <a:r>
              <a:rPr lang="en-US" sz="3399">
                <a:solidFill>
                  <a:srgbClr val="191919"/>
                </a:solidFill>
                <a:latin typeface="Times New Roman"/>
                <a:ea typeface="Times New Roman"/>
                <a:cs typeface="Times New Roman"/>
                <a:sym typeface="Times New Roman"/>
              </a:rPr>
              <a:t>Hay nói đơn giản Hệ thống khuyến nghị  là “máy” học thói quen người dùng để gợi ý thứ họ thích.</a:t>
            </a:r>
          </a:p>
          <a:p>
            <a:pPr algn="l">
              <a:lnSpc>
                <a:spcPts val="4759"/>
              </a:lnSpc>
            </a:pPr>
          </a:p>
        </p:txBody>
      </p:sp>
      <p:sp>
        <p:nvSpPr>
          <p:cNvPr name="TextBox 10" id="10"/>
          <p:cNvSpPr txBox="true"/>
          <p:nvPr/>
        </p:nvSpPr>
        <p:spPr>
          <a:xfrm rot="0">
            <a:off x="9703077" y="2999850"/>
            <a:ext cx="6791806" cy="5400040"/>
          </a:xfrm>
          <a:prstGeom prst="rect">
            <a:avLst/>
          </a:prstGeom>
        </p:spPr>
        <p:txBody>
          <a:bodyPr anchor="t" rtlCol="false" tIns="0" lIns="0" bIns="0" rIns="0">
            <a:spAutoFit/>
          </a:bodyPr>
          <a:lstStyle/>
          <a:p>
            <a:pPr algn="l">
              <a:lnSpc>
                <a:spcPts val="4759"/>
              </a:lnSpc>
            </a:pPr>
            <a:r>
              <a:rPr lang="en-US" sz="3399">
                <a:solidFill>
                  <a:srgbClr val="191919"/>
                </a:solidFill>
                <a:latin typeface="Times New Roman"/>
                <a:ea typeface="Times New Roman"/>
                <a:cs typeface="Times New Roman"/>
                <a:sym typeface="Times New Roman"/>
              </a:rPr>
              <a:t>Có 2 hướng chính để xây dựng</a:t>
            </a:r>
          </a:p>
          <a:p>
            <a:pPr algn="l">
              <a:lnSpc>
                <a:spcPts val="4759"/>
              </a:lnSpc>
            </a:pPr>
            <a:r>
              <a:rPr lang="en-US" sz="3399">
                <a:solidFill>
                  <a:srgbClr val="191919"/>
                </a:solidFill>
                <a:latin typeface="Times New Roman"/>
                <a:ea typeface="Times New Roman"/>
                <a:cs typeface="Times New Roman"/>
                <a:sym typeface="Times New Roman"/>
              </a:rPr>
              <a:t>CF: Collaborative Filtering </a:t>
            </a:r>
          </a:p>
          <a:p>
            <a:pPr algn="l">
              <a:lnSpc>
                <a:spcPts val="4759"/>
              </a:lnSpc>
            </a:pPr>
            <a:r>
              <a:rPr lang="en-US" sz="3399">
                <a:solidFill>
                  <a:srgbClr val="191919"/>
                </a:solidFill>
                <a:latin typeface="Times New Roman"/>
                <a:ea typeface="Times New Roman"/>
                <a:cs typeface="Times New Roman"/>
                <a:sym typeface="Times New Roman"/>
              </a:rPr>
              <a:t>CBF: Content-Based Filtering</a:t>
            </a:r>
          </a:p>
          <a:p>
            <a:pPr algn="l">
              <a:lnSpc>
                <a:spcPts val="4759"/>
              </a:lnSpc>
            </a:pPr>
            <a:r>
              <a:rPr lang="en-US" sz="3399">
                <a:solidFill>
                  <a:srgbClr val="191919"/>
                </a:solidFill>
                <a:latin typeface="Times New Roman"/>
                <a:ea typeface="Times New Roman"/>
                <a:cs typeface="Times New Roman"/>
                <a:sym typeface="Times New Roman"/>
              </a:rPr>
              <a:t>Ở bài này áp dụng cả 2 để xây dựng hệ thống khuyến nghị</a:t>
            </a:r>
          </a:p>
          <a:p>
            <a:pPr algn="l">
              <a:lnSpc>
                <a:spcPts val="4759"/>
              </a:lnSpc>
            </a:pPr>
            <a:r>
              <a:rPr lang="en-US" sz="3399">
                <a:solidFill>
                  <a:srgbClr val="191919"/>
                </a:solidFill>
                <a:latin typeface="Times New Roman"/>
                <a:ea typeface="Times New Roman"/>
                <a:cs typeface="Times New Roman"/>
                <a:sym typeface="Times New Roman"/>
              </a:rPr>
              <a:t>Ở bài này sẽ kết hợp cả 2 để giải quyết nhầm đạt được kết quả tốt cho các trường hợp cold-start</a:t>
            </a:r>
          </a:p>
          <a:p>
            <a:pPr algn="l">
              <a:lnSpc>
                <a:spcPts val="475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832771" y="7574949"/>
            <a:ext cx="3366703" cy="3366703"/>
          </a:xfrm>
          <a:custGeom>
            <a:avLst/>
            <a:gdLst/>
            <a:ahLst/>
            <a:cxnLst/>
            <a:rect r="r" b="b" t="t" l="l"/>
            <a:pathLst>
              <a:path h="3366703" w="3366703">
                <a:moveTo>
                  <a:pt x="0" y="0"/>
                </a:moveTo>
                <a:lnTo>
                  <a:pt x="3366703" y="0"/>
                </a:lnTo>
                <a:lnTo>
                  <a:pt x="3366703" y="3366702"/>
                </a:lnTo>
                <a:lnTo>
                  <a:pt x="0" y="33667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259300" y="-1622349"/>
            <a:ext cx="3244699" cy="3244699"/>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C9EF"/>
            </a:solidFill>
          </p:spPr>
        </p:sp>
      </p:grpSp>
      <p:sp>
        <p:nvSpPr>
          <p:cNvPr name="Freeform 5" id="5"/>
          <p:cNvSpPr/>
          <p:nvPr/>
        </p:nvSpPr>
        <p:spPr>
          <a:xfrm flipH="false" flipV="false" rot="0">
            <a:off x="9409630" y="1468699"/>
            <a:ext cx="36590" cy="7317960"/>
          </a:xfrm>
          <a:custGeom>
            <a:avLst/>
            <a:gdLst/>
            <a:ahLst/>
            <a:cxnLst/>
            <a:rect r="r" b="b" t="t" l="l"/>
            <a:pathLst>
              <a:path h="7317960" w="36590">
                <a:moveTo>
                  <a:pt x="0" y="0"/>
                </a:moveTo>
                <a:lnTo>
                  <a:pt x="36589" y="0"/>
                </a:lnTo>
                <a:lnTo>
                  <a:pt x="36589" y="7317959"/>
                </a:lnTo>
                <a:lnTo>
                  <a:pt x="0" y="73179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542060" y="1536624"/>
            <a:ext cx="4340781" cy="599440"/>
          </a:xfrm>
          <a:prstGeom prst="rect">
            <a:avLst/>
          </a:prstGeom>
        </p:spPr>
        <p:txBody>
          <a:bodyPr anchor="t" rtlCol="false" tIns="0" lIns="0" bIns="0" rIns="0">
            <a:spAutoFit/>
          </a:bodyPr>
          <a:lstStyle/>
          <a:p>
            <a:pPr algn="ctr">
              <a:lnSpc>
                <a:spcPts val="4759"/>
              </a:lnSpc>
            </a:pPr>
            <a:r>
              <a:rPr lang="en-US" sz="3399" b="true">
                <a:solidFill>
                  <a:srgbClr val="191919"/>
                </a:solidFill>
                <a:latin typeface="Times New Roman Bold"/>
                <a:ea typeface="Times New Roman Bold"/>
                <a:cs typeface="Times New Roman Bold"/>
                <a:sym typeface="Times New Roman Bold"/>
              </a:rPr>
              <a:t>Collaborative Filtering </a:t>
            </a:r>
          </a:p>
        </p:txBody>
      </p:sp>
      <p:sp>
        <p:nvSpPr>
          <p:cNvPr name="TextBox 7" id="7"/>
          <p:cNvSpPr txBox="true"/>
          <p:nvPr/>
        </p:nvSpPr>
        <p:spPr>
          <a:xfrm rot="0">
            <a:off x="10857806" y="1536624"/>
            <a:ext cx="4557117" cy="599440"/>
          </a:xfrm>
          <a:prstGeom prst="rect">
            <a:avLst/>
          </a:prstGeom>
        </p:spPr>
        <p:txBody>
          <a:bodyPr anchor="t" rtlCol="false" tIns="0" lIns="0" bIns="0" rIns="0">
            <a:spAutoFit/>
          </a:bodyPr>
          <a:lstStyle/>
          <a:p>
            <a:pPr algn="ctr">
              <a:lnSpc>
                <a:spcPts val="4759"/>
              </a:lnSpc>
            </a:pPr>
            <a:r>
              <a:rPr lang="en-US" sz="3399" b="true">
                <a:solidFill>
                  <a:srgbClr val="191919"/>
                </a:solidFill>
                <a:latin typeface="Times New Roman Bold"/>
                <a:ea typeface="Times New Roman Bold"/>
                <a:cs typeface="Times New Roman Bold"/>
                <a:sym typeface="Times New Roman Bold"/>
              </a:rPr>
              <a:t> Content-Based Filtering</a:t>
            </a:r>
          </a:p>
        </p:txBody>
      </p:sp>
      <p:sp>
        <p:nvSpPr>
          <p:cNvPr name="TextBox 8" id="8"/>
          <p:cNvSpPr txBox="true"/>
          <p:nvPr/>
        </p:nvSpPr>
        <p:spPr>
          <a:xfrm rot="0">
            <a:off x="1623858" y="2323947"/>
            <a:ext cx="7688321" cy="6600190"/>
          </a:xfrm>
          <a:prstGeom prst="rect">
            <a:avLst/>
          </a:prstGeom>
        </p:spPr>
        <p:txBody>
          <a:bodyPr anchor="t" rtlCol="false" tIns="0" lIns="0" bIns="0" rIns="0">
            <a:spAutoFit/>
          </a:bodyPr>
          <a:lstStyle/>
          <a:p>
            <a:pPr algn="l">
              <a:lnSpc>
                <a:spcPts val="4759"/>
              </a:lnSpc>
            </a:pPr>
            <a:r>
              <a:rPr lang="en-US" sz="3399">
                <a:solidFill>
                  <a:srgbClr val="191919"/>
                </a:solidFill>
                <a:latin typeface="Times New Roman"/>
                <a:ea typeface="Times New Roman"/>
                <a:cs typeface="Times New Roman"/>
                <a:sym typeface="Times New Roman"/>
              </a:rPr>
              <a:t>Ý tưởng: Người dùng có các hành vi giống nhau sẽ thích các sản phẩm giống nhau</a:t>
            </a:r>
          </a:p>
          <a:p>
            <a:pPr algn="l">
              <a:lnSpc>
                <a:spcPts val="4759"/>
              </a:lnSpc>
            </a:pPr>
            <a:r>
              <a:rPr lang="en-US" sz="3399">
                <a:solidFill>
                  <a:srgbClr val="191919"/>
                </a:solidFill>
                <a:latin typeface="Times New Roman"/>
                <a:ea typeface="Times New Roman"/>
                <a:cs typeface="Times New Roman"/>
                <a:sym typeface="Times New Roman"/>
              </a:rPr>
              <a:t>CF chỉ dựa vào hành vi tương tác ở bài này là mua và thuê</a:t>
            </a:r>
          </a:p>
          <a:p>
            <a:pPr algn="l">
              <a:lnSpc>
                <a:spcPts val="4759"/>
              </a:lnSpc>
            </a:pPr>
            <a:r>
              <a:rPr lang="en-US" sz="3399">
                <a:solidFill>
                  <a:srgbClr val="191919"/>
                </a:solidFill>
                <a:latin typeface="Times New Roman"/>
                <a:ea typeface="Times New Roman"/>
                <a:cs typeface="Times New Roman"/>
                <a:sym typeface="Times New Roman"/>
              </a:rPr>
              <a:t>Có 2 hướng đã áp dụng vào là </a:t>
            </a:r>
          </a:p>
          <a:p>
            <a:pPr algn="l">
              <a:lnSpc>
                <a:spcPts val="4759"/>
              </a:lnSpc>
            </a:pPr>
            <a:r>
              <a:rPr lang="en-US" sz="3399">
                <a:solidFill>
                  <a:srgbClr val="191919"/>
                </a:solidFill>
                <a:latin typeface="Times New Roman"/>
                <a:ea typeface="Times New Roman"/>
                <a:cs typeface="Times New Roman"/>
                <a:sym typeface="Times New Roman"/>
              </a:rPr>
              <a:t>Matrix Factorization(ALS): cải tiến hơn là nó xây dựng vecto đặc trưng cho từng node(item-user) </a:t>
            </a:r>
          </a:p>
          <a:p>
            <a:pPr algn="l">
              <a:lnSpc>
                <a:spcPts val="4759"/>
              </a:lnSpc>
            </a:pPr>
            <a:r>
              <a:rPr lang="en-US" sz="3399">
                <a:solidFill>
                  <a:srgbClr val="191919"/>
                </a:solidFill>
                <a:latin typeface="Times New Roman"/>
                <a:ea typeface="Times New Roman"/>
                <a:cs typeface="Times New Roman"/>
                <a:sym typeface="Times New Roman"/>
              </a:rPr>
              <a:t>GNN-Based CF(NGCF và LightGCN):</a:t>
            </a:r>
          </a:p>
          <a:p>
            <a:pPr algn="l">
              <a:lnSpc>
                <a:spcPts val="4759"/>
              </a:lnSpc>
            </a:pPr>
          </a:p>
          <a:p>
            <a:pPr algn="l">
              <a:lnSpc>
                <a:spcPts val="4759"/>
              </a:lnSpc>
            </a:pPr>
          </a:p>
        </p:txBody>
      </p:sp>
      <p:sp>
        <p:nvSpPr>
          <p:cNvPr name="TextBox 9" id="9"/>
          <p:cNvSpPr txBox="true"/>
          <p:nvPr/>
        </p:nvSpPr>
        <p:spPr>
          <a:xfrm rot="0">
            <a:off x="9968707" y="2314422"/>
            <a:ext cx="6324671" cy="5493634"/>
          </a:xfrm>
          <a:prstGeom prst="rect">
            <a:avLst/>
          </a:prstGeom>
        </p:spPr>
        <p:txBody>
          <a:bodyPr anchor="t" rtlCol="false" tIns="0" lIns="0" bIns="0" rIns="0">
            <a:spAutoFit/>
          </a:bodyPr>
          <a:lstStyle/>
          <a:p>
            <a:pPr algn="l">
              <a:lnSpc>
                <a:spcPts val="4851"/>
              </a:lnSpc>
            </a:pPr>
            <a:r>
              <a:rPr lang="en-US" sz="3465">
                <a:solidFill>
                  <a:srgbClr val="191919"/>
                </a:solidFill>
                <a:latin typeface="Times New Roman"/>
                <a:ea typeface="Times New Roman"/>
                <a:cs typeface="Times New Roman"/>
                <a:sym typeface="Times New Roman"/>
              </a:rPr>
              <a:t>Dựa vào các món hàng đã mua hoặc sở thích(với user mới) để gợi ý các món hàng gần với người dùng.</a:t>
            </a:r>
          </a:p>
          <a:p>
            <a:pPr algn="l">
              <a:lnSpc>
                <a:spcPts val="4851"/>
              </a:lnSpc>
            </a:pPr>
            <a:r>
              <a:rPr lang="en-US" sz="3465">
                <a:solidFill>
                  <a:srgbClr val="191919"/>
                </a:solidFill>
                <a:latin typeface="Times New Roman"/>
                <a:ea typeface="Times New Roman"/>
                <a:cs typeface="Times New Roman"/>
                <a:sym typeface="Times New Roman"/>
              </a:rPr>
              <a:t>Ưu điểm là giải quyết được cold-start </a:t>
            </a:r>
          </a:p>
          <a:p>
            <a:pPr algn="l">
              <a:lnSpc>
                <a:spcPts val="4851"/>
              </a:lnSpc>
            </a:pPr>
            <a:r>
              <a:rPr lang="en-US" sz="3465">
                <a:solidFill>
                  <a:srgbClr val="191919"/>
                </a:solidFill>
                <a:latin typeface="Times New Roman"/>
                <a:ea typeface="Times New Roman"/>
                <a:cs typeface="Times New Roman"/>
                <a:sym typeface="Times New Roman"/>
              </a:rPr>
              <a:t>Hiện tại bài này dùng FashionCLIP để trích xuất embedding cho cả ảnh và mô tả rồi kết hợp lại</a:t>
            </a:r>
          </a:p>
        </p:txBody>
      </p:sp>
      <p:sp>
        <p:nvSpPr>
          <p:cNvPr name="TextBox 10" id="10"/>
          <p:cNvSpPr txBox="true"/>
          <p:nvPr/>
        </p:nvSpPr>
        <p:spPr>
          <a:xfrm rot="0">
            <a:off x="6540247" y="450910"/>
            <a:ext cx="5764860" cy="744474"/>
          </a:xfrm>
          <a:prstGeom prst="rect">
            <a:avLst/>
          </a:prstGeom>
        </p:spPr>
        <p:txBody>
          <a:bodyPr anchor="t" rtlCol="false" tIns="0" lIns="0" bIns="0" rIns="0">
            <a:spAutoFit/>
          </a:bodyPr>
          <a:lstStyle/>
          <a:p>
            <a:pPr algn="ctr">
              <a:lnSpc>
                <a:spcPts val="5658"/>
              </a:lnSpc>
            </a:pPr>
            <a:r>
              <a:rPr lang="en-US" b="true" sz="4600" spc="276">
                <a:solidFill>
                  <a:srgbClr val="191919"/>
                </a:solidFill>
                <a:latin typeface="Times New Roman Bold"/>
                <a:ea typeface="Times New Roman Bold"/>
                <a:cs typeface="Times New Roman Bold"/>
                <a:sym typeface="Times New Roman Bold"/>
              </a:rPr>
              <a:t>Các phương pháp</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832771" y="7574949"/>
            <a:ext cx="3366703" cy="3366703"/>
          </a:xfrm>
          <a:custGeom>
            <a:avLst/>
            <a:gdLst/>
            <a:ahLst/>
            <a:cxnLst/>
            <a:rect r="r" b="b" t="t" l="l"/>
            <a:pathLst>
              <a:path h="3366703" w="3366703">
                <a:moveTo>
                  <a:pt x="0" y="0"/>
                </a:moveTo>
                <a:lnTo>
                  <a:pt x="3366703" y="0"/>
                </a:lnTo>
                <a:lnTo>
                  <a:pt x="3366703" y="3366702"/>
                </a:lnTo>
                <a:lnTo>
                  <a:pt x="0" y="33667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494883" y="-1029278"/>
            <a:ext cx="3244699" cy="3244699"/>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C9EF"/>
            </a:solidFill>
          </p:spPr>
        </p:sp>
      </p:grpSp>
      <p:sp>
        <p:nvSpPr>
          <p:cNvPr name="TextBox 5" id="5"/>
          <p:cNvSpPr txBox="true"/>
          <p:nvPr/>
        </p:nvSpPr>
        <p:spPr>
          <a:xfrm rot="0">
            <a:off x="6541220" y="1102910"/>
            <a:ext cx="5257749" cy="744474"/>
          </a:xfrm>
          <a:prstGeom prst="rect">
            <a:avLst/>
          </a:prstGeom>
        </p:spPr>
        <p:txBody>
          <a:bodyPr anchor="t" rtlCol="false" tIns="0" lIns="0" bIns="0" rIns="0">
            <a:spAutoFit/>
          </a:bodyPr>
          <a:lstStyle/>
          <a:p>
            <a:pPr algn="ctr">
              <a:lnSpc>
                <a:spcPts val="5658"/>
              </a:lnSpc>
            </a:pPr>
            <a:r>
              <a:rPr lang="en-US" b="true" sz="4600" spc="276">
                <a:solidFill>
                  <a:srgbClr val="191919"/>
                </a:solidFill>
                <a:latin typeface="Times New Roman Bold"/>
                <a:ea typeface="Times New Roman Bold"/>
                <a:cs typeface="Times New Roman Bold"/>
                <a:sym typeface="Times New Roman Bold"/>
              </a:rPr>
              <a:t>Độ đo</a:t>
            </a:r>
          </a:p>
        </p:txBody>
      </p:sp>
      <p:sp>
        <p:nvSpPr>
          <p:cNvPr name="TextBox 6" id="6"/>
          <p:cNvSpPr txBox="true"/>
          <p:nvPr/>
        </p:nvSpPr>
        <p:spPr>
          <a:xfrm rot="0">
            <a:off x="1505232" y="2747111"/>
            <a:ext cx="16298585" cy="3175636"/>
          </a:xfrm>
          <a:prstGeom prst="rect">
            <a:avLst/>
          </a:prstGeom>
        </p:spPr>
        <p:txBody>
          <a:bodyPr anchor="t" rtlCol="false" tIns="0" lIns="0" bIns="0" rIns="0">
            <a:spAutoFit/>
          </a:bodyPr>
          <a:lstStyle/>
          <a:p>
            <a:pPr algn="l">
              <a:lnSpc>
                <a:spcPts val="5099"/>
              </a:lnSpc>
            </a:pPr>
            <a:r>
              <a:rPr lang="en-US" sz="3399" spc="169">
                <a:solidFill>
                  <a:srgbClr val="191919"/>
                </a:solidFill>
                <a:latin typeface="Times New Roman"/>
                <a:ea typeface="Times New Roman"/>
                <a:cs typeface="Times New Roman"/>
                <a:sym typeface="Times New Roman"/>
              </a:rPr>
              <a:t>Dùng  4 độ đo chính để đo độ chính xác</a:t>
            </a:r>
          </a:p>
          <a:p>
            <a:pPr algn="l">
              <a:lnSpc>
                <a:spcPts val="5099"/>
              </a:lnSpc>
            </a:pPr>
            <a:r>
              <a:rPr lang="en-US" sz="3399" spc="169">
                <a:solidFill>
                  <a:srgbClr val="191919"/>
                </a:solidFill>
                <a:latin typeface="Times New Roman"/>
                <a:ea typeface="Times New Roman"/>
                <a:cs typeface="Times New Roman"/>
                <a:sym typeface="Times New Roman"/>
              </a:rPr>
              <a:t>Precision@10: trong 10 gợi ý có bao nhiêu item đúng. </a:t>
            </a:r>
          </a:p>
          <a:p>
            <a:pPr algn="l">
              <a:lnSpc>
                <a:spcPts val="5099"/>
              </a:lnSpc>
            </a:pPr>
            <a:r>
              <a:rPr lang="en-US" sz="3399" spc="169">
                <a:solidFill>
                  <a:srgbClr val="191919"/>
                </a:solidFill>
                <a:latin typeface="Times New Roman"/>
                <a:ea typeface="Times New Roman"/>
                <a:cs typeface="Times New Roman"/>
                <a:sym typeface="Times New Roman"/>
              </a:rPr>
              <a:t>Recall@10: trong tất cả item đúng của user ở test có bao nhiêu cái trong top 10. </a:t>
            </a:r>
          </a:p>
          <a:p>
            <a:pPr algn="l">
              <a:lnSpc>
                <a:spcPts val="5099"/>
              </a:lnSpc>
            </a:pPr>
            <a:r>
              <a:rPr lang="en-US" sz="3399" spc="169">
                <a:solidFill>
                  <a:srgbClr val="191919"/>
                </a:solidFill>
                <a:latin typeface="Times New Roman"/>
                <a:ea typeface="Times New Roman"/>
                <a:cs typeface="Times New Roman"/>
                <a:sym typeface="Times New Roman"/>
              </a:rPr>
              <a:t>NDCG@10: đo chất lượng xếp hạng; trúng ở top cao thì có chất lượng tốt hơn. </a:t>
            </a:r>
          </a:p>
          <a:p>
            <a:pPr algn="l">
              <a:lnSpc>
                <a:spcPts val="5099"/>
              </a:lnSpc>
              <a:spcBef>
                <a:spcPct val="0"/>
              </a:spcBef>
            </a:pPr>
            <a:r>
              <a:rPr lang="en-US" sz="3399" spc="169">
                <a:solidFill>
                  <a:srgbClr val="191919"/>
                </a:solidFill>
                <a:latin typeface="Times New Roman"/>
                <a:ea typeface="Times New Roman"/>
                <a:cs typeface="Times New Roman"/>
                <a:sym typeface="Times New Roman"/>
              </a:rPr>
              <a:t>HitRate@10: nếu trúng 1 item trong top thì tính là 1 còn không thì sẽ nhận giá trị 0.</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832771" y="7574949"/>
            <a:ext cx="3366703" cy="3366703"/>
          </a:xfrm>
          <a:custGeom>
            <a:avLst/>
            <a:gdLst/>
            <a:ahLst/>
            <a:cxnLst/>
            <a:rect r="r" b="b" t="t" l="l"/>
            <a:pathLst>
              <a:path h="3366703" w="3366703">
                <a:moveTo>
                  <a:pt x="0" y="0"/>
                </a:moveTo>
                <a:lnTo>
                  <a:pt x="3366703" y="0"/>
                </a:lnTo>
                <a:lnTo>
                  <a:pt x="3366703" y="3366702"/>
                </a:lnTo>
                <a:lnTo>
                  <a:pt x="0" y="33667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259300" y="-1622349"/>
            <a:ext cx="3244699" cy="3244699"/>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C9EF"/>
            </a:solidFill>
          </p:spPr>
        </p:sp>
      </p:grpSp>
      <p:sp>
        <p:nvSpPr>
          <p:cNvPr name="Freeform 5" id="5"/>
          <p:cNvSpPr/>
          <p:nvPr/>
        </p:nvSpPr>
        <p:spPr>
          <a:xfrm flipH="false" flipV="false" rot="0">
            <a:off x="3864025" y="7574949"/>
            <a:ext cx="10699722" cy="1786149"/>
          </a:xfrm>
          <a:custGeom>
            <a:avLst/>
            <a:gdLst/>
            <a:ahLst/>
            <a:cxnLst/>
            <a:rect r="r" b="b" t="t" l="l"/>
            <a:pathLst>
              <a:path h="1786149" w="10699722">
                <a:moveTo>
                  <a:pt x="0" y="0"/>
                </a:moveTo>
                <a:lnTo>
                  <a:pt x="10699722" y="0"/>
                </a:lnTo>
                <a:lnTo>
                  <a:pt x="10699722" y="1786149"/>
                </a:lnTo>
                <a:lnTo>
                  <a:pt x="0" y="1786149"/>
                </a:lnTo>
                <a:lnTo>
                  <a:pt x="0" y="0"/>
                </a:lnTo>
                <a:close/>
              </a:path>
            </a:pathLst>
          </a:custGeom>
          <a:blipFill>
            <a:blip r:embed="rId4"/>
            <a:stretch>
              <a:fillRect l="0" t="0" r="0" b="0"/>
            </a:stretch>
          </a:blipFill>
        </p:spPr>
      </p:sp>
      <p:sp>
        <p:nvSpPr>
          <p:cNvPr name="Freeform 6" id="6"/>
          <p:cNvSpPr/>
          <p:nvPr/>
        </p:nvSpPr>
        <p:spPr>
          <a:xfrm flipH="false" flipV="false" rot="0">
            <a:off x="3864025" y="5143500"/>
            <a:ext cx="10239948" cy="2053858"/>
          </a:xfrm>
          <a:custGeom>
            <a:avLst/>
            <a:gdLst/>
            <a:ahLst/>
            <a:cxnLst/>
            <a:rect r="r" b="b" t="t" l="l"/>
            <a:pathLst>
              <a:path h="2053858" w="10239948">
                <a:moveTo>
                  <a:pt x="0" y="0"/>
                </a:moveTo>
                <a:lnTo>
                  <a:pt x="10239948" y="0"/>
                </a:lnTo>
                <a:lnTo>
                  <a:pt x="10239948" y="2053858"/>
                </a:lnTo>
                <a:lnTo>
                  <a:pt x="0" y="2053858"/>
                </a:lnTo>
                <a:lnTo>
                  <a:pt x="0" y="0"/>
                </a:lnTo>
                <a:close/>
              </a:path>
            </a:pathLst>
          </a:custGeom>
          <a:blipFill>
            <a:blip r:embed="rId5"/>
            <a:stretch>
              <a:fillRect l="-1942" t="0" r="0" b="0"/>
            </a:stretch>
          </a:blipFill>
        </p:spPr>
      </p:sp>
      <p:sp>
        <p:nvSpPr>
          <p:cNvPr name="Freeform 7" id="7"/>
          <p:cNvSpPr/>
          <p:nvPr/>
        </p:nvSpPr>
        <p:spPr>
          <a:xfrm flipH="false" flipV="false" rot="0">
            <a:off x="3864025" y="1358644"/>
            <a:ext cx="10165690" cy="1819784"/>
          </a:xfrm>
          <a:custGeom>
            <a:avLst/>
            <a:gdLst/>
            <a:ahLst/>
            <a:cxnLst/>
            <a:rect r="r" b="b" t="t" l="l"/>
            <a:pathLst>
              <a:path h="1819784" w="10165690">
                <a:moveTo>
                  <a:pt x="0" y="0"/>
                </a:moveTo>
                <a:lnTo>
                  <a:pt x="10165690" y="0"/>
                </a:lnTo>
                <a:lnTo>
                  <a:pt x="10165690" y="1819784"/>
                </a:lnTo>
                <a:lnTo>
                  <a:pt x="0" y="1819784"/>
                </a:lnTo>
                <a:lnTo>
                  <a:pt x="0" y="0"/>
                </a:lnTo>
                <a:close/>
              </a:path>
            </a:pathLst>
          </a:custGeom>
          <a:blipFill>
            <a:blip r:embed="rId6"/>
            <a:stretch>
              <a:fillRect l="0" t="0" r="0" b="0"/>
            </a:stretch>
          </a:blipFill>
        </p:spPr>
      </p:sp>
      <p:sp>
        <p:nvSpPr>
          <p:cNvPr name="Freeform 8" id="8"/>
          <p:cNvSpPr/>
          <p:nvPr/>
        </p:nvSpPr>
        <p:spPr>
          <a:xfrm flipH="false" flipV="false" rot="0">
            <a:off x="3864025" y="3341687"/>
            <a:ext cx="10364206" cy="1452926"/>
          </a:xfrm>
          <a:custGeom>
            <a:avLst/>
            <a:gdLst/>
            <a:ahLst/>
            <a:cxnLst/>
            <a:rect r="r" b="b" t="t" l="l"/>
            <a:pathLst>
              <a:path h="1452926" w="10364206">
                <a:moveTo>
                  <a:pt x="0" y="0"/>
                </a:moveTo>
                <a:lnTo>
                  <a:pt x="10364206" y="0"/>
                </a:lnTo>
                <a:lnTo>
                  <a:pt x="10364206" y="1452926"/>
                </a:lnTo>
                <a:lnTo>
                  <a:pt x="0" y="1452926"/>
                </a:lnTo>
                <a:lnTo>
                  <a:pt x="0" y="0"/>
                </a:lnTo>
                <a:close/>
              </a:path>
            </a:pathLst>
          </a:custGeom>
          <a:blipFill>
            <a:blip r:embed="rId7"/>
            <a:stretch>
              <a:fillRect l="0" t="0" r="0" b="0"/>
            </a:stretch>
          </a:blipFill>
        </p:spPr>
      </p:sp>
      <p:sp>
        <p:nvSpPr>
          <p:cNvPr name="TextBox 9" id="9"/>
          <p:cNvSpPr txBox="true"/>
          <p:nvPr/>
        </p:nvSpPr>
        <p:spPr>
          <a:xfrm rot="0">
            <a:off x="6540247" y="489010"/>
            <a:ext cx="5764860" cy="706374"/>
          </a:xfrm>
          <a:prstGeom prst="rect">
            <a:avLst/>
          </a:prstGeom>
        </p:spPr>
        <p:txBody>
          <a:bodyPr anchor="t" rtlCol="false" tIns="0" lIns="0" bIns="0" rIns="0">
            <a:spAutoFit/>
          </a:bodyPr>
          <a:lstStyle/>
          <a:p>
            <a:pPr algn="ctr">
              <a:lnSpc>
                <a:spcPts val="5658"/>
              </a:lnSpc>
            </a:pPr>
            <a:r>
              <a:rPr lang="en-US" b="true" sz="4600" spc="276">
                <a:solidFill>
                  <a:srgbClr val="191919"/>
                </a:solidFill>
                <a:latin typeface="Clear Sans Bold"/>
                <a:ea typeface="Clear Sans Bold"/>
                <a:cs typeface="Clear Sans Bold"/>
                <a:sym typeface="Clear Sans Bold"/>
              </a:rPr>
              <a:t>Công thức</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832771" y="7574949"/>
            <a:ext cx="3366703" cy="3366703"/>
          </a:xfrm>
          <a:custGeom>
            <a:avLst/>
            <a:gdLst/>
            <a:ahLst/>
            <a:cxnLst/>
            <a:rect r="r" b="b" t="t" l="l"/>
            <a:pathLst>
              <a:path h="3366703" w="3366703">
                <a:moveTo>
                  <a:pt x="0" y="0"/>
                </a:moveTo>
                <a:lnTo>
                  <a:pt x="3366703" y="0"/>
                </a:lnTo>
                <a:lnTo>
                  <a:pt x="3366703" y="3366702"/>
                </a:lnTo>
                <a:lnTo>
                  <a:pt x="0" y="33667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259300" y="-1622349"/>
            <a:ext cx="3244699" cy="3244699"/>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C9EF"/>
            </a:solidFill>
          </p:spPr>
        </p:sp>
      </p:grpSp>
      <p:sp>
        <p:nvSpPr>
          <p:cNvPr name="Freeform 5" id="5"/>
          <p:cNvSpPr/>
          <p:nvPr/>
        </p:nvSpPr>
        <p:spPr>
          <a:xfrm flipH="false" flipV="false" rot="0">
            <a:off x="9409630" y="1879207"/>
            <a:ext cx="26094" cy="5218813"/>
          </a:xfrm>
          <a:custGeom>
            <a:avLst/>
            <a:gdLst/>
            <a:ahLst/>
            <a:cxnLst/>
            <a:rect r="r" b="b" t="t" l="l"/>
            <a:pathLst>
              <a:path h="5218813" w="26094">
                <a:moveTo>
                  <a:pt x="0" y="0"/>
                </a:moveTo>
                <a:lnTo>
                  <a:pt x="26094" y="0"/>
                </a:lnTo>
                <a:lnTo>
                  <a:pt x="26094" y="5218813"/>
                </a:lnTo>
                <a:lnTo>
                  <a:pt x="0" y="52188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743749" y="1536624"/>
            <a:ext cx="5467588" cy="599440"/>
          </a:xfrm>
          <a:prstGeom prst="rect">
            <a:avLst/>
          </a:prstGeom>
        </p:spPr>
        <p:txBody>
          <a:bodyPr anchor="t" rtlCol="false" tIns="0" lIns="0" bIns="0" rIns="0">
            <a:spAutoFit/>
          </a:bodyPr>
          <a:lstStyle/>
          <a:p>
            <a:pPr algn="ctr">
              <a:lnSpc>
                <a:spcPts val="4759"/>
              </a:lnSpc>
            </a:pPr>
            <a:r>
              <a:rPr lang="en-US" sz="3399" b="true">
                <a:solidFill>
                  <a:srgbClr val="191919"/>
                </a:solidFill>
                <a:latin typeface="Times New Roman Bold"/>
                <a:ea typeface="Times New Roman Bold"/>
                <a:cs typeface="Times New Roman Bold"/>
                <a:sym typeface="Times New Roman Bold"/>
              </a:rPr>
              <a:t>vibrent-clothes-rental-dataset</a:t>
            </a:r>
          </a:p>
        </p:txBody>
      </p:sp>
      <p:sp>
        <p:nvSpPr>
          <p:cNvPr name="TextBox 7" id="7"/>
          <p:cNvSpPr txBox="true"/>
          <p:nvPr/>
        </p:nvSpPr>
        <p:spPr>
          <a:xfrm rot="0">
            <a:off x="13426269" y="1536624"/>
            <a:ext cx="1210985" cy="599440"/>
          </a:xfrm>
          <a:prstGeom prst="rect">
            <a:avLst/>
          </a:prstGeom>
        </p:spPr>
        <p:txBody>
          <a:bodyPr anchor="t" rtlCol="false" tIns="0" lIns="0" bIns="0" rIns="0">
            <a:spAutoFit/>
          </a:bodyPr>
          <a:lstStyle/>
          <a:p>
            <a:pPr algn="ctr">
              <a:lnSpc>
                <a:spcPts val="4759"/>
              </a:lnSpc>
            </a:pPr>
            <a:r>
              <a:rPr lang="en-US" sz="3399" b="true">
                <a:solidFill>
                  <a:srgbClr val="191919"/>
                </a:solidFill>
                <a:latin typeface="Times New Roman Bold"/>
                <a:ea typeface="Times New Roman Bold"/>
                <a:cs typeface="Times New Roman Bold"/>
                <a:sym typeface="Times New Roman Bold"/>
              </a:rPr>
              <a:t> H&amp;M</a:t>
            </a:r>
          </a:p>
        </p:txBody>
      </p:sp>
      <p:sp>
        <p:nvSpPr>
          <p:cNvPr name="TextBox 8" id="8"/>
          <p:cNvSpPr txBox="true"/>
          <p:nvPr/>
        </p:nvSpPr>
        <p:spPr>
          <a:xfrm rot="0">
            <a:off x="657932" y="2333798"/>
            <a:ext cx="8654247" cy="2399665"/>
          </a:xfrm>
          <a:prstGeom prst="rect">
            <a:avLst/>
          </a:prstGeom>
        </p:spPr>
        <p:txBody>
          <a:bodyPr anchor="t" rtlCol="false" tIns="0" lIns="0" bIns="0" rIns="0">
            <a:spAutoFit/>
          </a:bodyPr>
          <a:lstStyle/>
          <a:p>
            <a:pPr algn="l">
              <a:lnSpc>
                <a:spcPts val="4759"/>
              </a:lnSpc>
            </a:pPr>
            <a:r>
              <a:rPr lang="en-US" sz="3399">
                <a:solidFill>
                  <a:srgbClr val="191919"/>
                </a:solidFill>
                <a:latin typeface="Times New Roman"/>
                <a:ea typeface="Times New Roman"/>
                <a:cs typeface="Times New Roman"/>
                <a:sym typeface="Times New Roman"/>
              </a:rPr>
              <a:t>Bộ dữ liệu vibrent clothes rental (7.04 GB) Bao gồm dữ liệu thực tế, giàu thông tin và hành vi người dùng, phù hợp cho bài toán gợi ý và phân tích thời trang.</a:t>
            </a:r>
          </a:p>
        </p:txBody>
      </p:sp>
      <p:sp>
        <p:nvSpPr>
          <p:cNvPr name="TextBox 9" id="9"/>
          <p:cNvSpPr txBox="true"/>
          <p:nvPr/>
        </p:nvSpPr>
        <p:spPr>
          <a:xfrm rot="0">
            <a:off x="9968707" y="2323947"/>
            <a:ext cx="8126108" cy="2999740"/>
          </a:xfrm>
          <a:prstGeom prst="rect">
            <a:avLst/>
          </a:prstGeom>
        </p:spPr>
        <p:txBody>
          <a:bodyPr anchor="t" rtlCol="false" tIns="0" lIns="0" bIns="0" rIns="0">
            <a:spAutoFit/>
          </a:bodyPr>
          <a:lstStyle/>
          <a:p>
            <a:pPr algn="l">
              <a:lnSpc>
                <a:spcPts val="4759"/>
              </a:lnSpc>
            </a:pPr>
            <a:r>
              <a:rPr lang="en-US" sz="3399">
                <a:solidFill>
                  <a:srgbClr val="191919"/>
                </a:solidFill>
                <a:latin typeface="Times New Roman"/>
                <a:ea typeface="Times New Roman"/>
                <a:cs typeface="Times New Roman"/>
                <a:sym typeface="Times New Roman"/>
              </a:rPr>
              <a:t>Bộ dữ liệu H&amp;M 34.56 GB đây là một cuộc thi Kaggle, mục tiêu dự đoán sản phẩm mà khách hàng sẽ mua ở tuần tiếp theo.</a:t>
            </a:r>
          </a:p>
          <a:p>
            <a:pPr algn="l">
              <a:lnSpc>
                <a:spcPts val="4759"/>
              </a:lnSpc>
            </a:pPr>
          </a:p>
          <a:p>
            <a:pPr algn="l">
              <a:lnSpc>
                <a:spcPts val="4759"/>
              </a:lnSpc>
            </a:pPr>
          </a:p>
        </p:txBody>
      </p:sp>
      <p:sp>
        <p:nvSpPr>
          <p:cNvPr name="TextBox 10" id="10"/>
          <p:cNvSpPr txBox="true"/>
          <p:nvPr/>
        </p:nvSpPr>
        <p:spPr>
          <a:xfrm rot="0">
            <a:off x="6140326" y="284226"/>
            <a:ext cx="6590796" cy="744474"/>
          </a:xfrm>
          <a:prstGeom prst="rect">
            <a:avLst/>
          </a:prstGeom>
        </p:spPr>
        <p:txBody>
          <a:bodyPr anchor="t" rtlCol="false" tIns="0" lIns="0" bIns="0" rIns="0">
            <a:spAutoFit/>
          </a:bodyPr>
          <a:lstStyle/>
          <a:p>
            <a:pPr algn="ctr">
              <a:lnSpc>
                <a:spcPts val="5658"/>
              </a:lnSpc>
            </a:pPr>
            <a:r>
              <a:rPr lang="en-US" b="true" sz="4600" spc="276">
                <a:solidFill>
                  <a:srgbClr val="191919"/>
                </a:solidFill>
                <a:latin typeface="Times New Roman Bold"/>
                <a:ea typeface="Times New Roman Bold"/>
                <a:cs typeface="Times New Roman Bold"/>
                <a:sym typeface="Times New Roman Bold"/>
              </a:rPr>
              <a:t>Giới thiệu bộ dữ liệu</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1622349"/>
            <a:ext cx="3244699" cy="3244699"/>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C9EF"/>
            </a:solidFill>
          </p:spPr>
        </p:sp>
      </p:grpSp>
      <p:sp>
        <p:nvSpPr>
          <p:cNvPr name="Freeform 4" id="4"/>
          <p:cNvSpPr/>
          <p:nvPr/>
        </p:nvSpPr>
        <p:spPr>
          <a:xfrm flipH="false" flipV="false" rot="0">
            <a:off x="9931162" y="1285558"/>
            <a:ext cx="37545" cy="7509091"/>
          </a:xfrm>
          <a:custGeom>
            <a:avLst/>
            <a:gdLst/>
            <a:ahLst/>
            <a:cxnLst/>
            <a:rect r="r" b="b" t="t" l="l"/>
            <a:pathLst>
              <a:path h="7509091" w="37545">
                <a:moveTo>
                  <a:pt x="0" y="0"/>
                </a:moveTo>
                <a:lnTo>
                  <a:pt x="37545" y="0"/>
                </a:lnTo>
                <a:lnTo>
                  <a:pt x="37545" y="7509091"/>
                </a:lnTo>
                <a:lnTo>
                  <a:pt x="0" y="75090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2323706" y="1022909"/>
            <a:ext cx="5467588" cy="599440"/>
          </a:xfrm>
          <a:prstGeom prst="rect">
            <a:avLst/>
          </a:prstGeom>
        </p:spPr>
        <p:txBody>
          <a:bodyPr anchor="t" rtlCol="false" tIns="0" lIns="0" bIns="0" rIns="0">
            <a:spAutoFit/>
          </a:bodyPr>
          <a:lstStyle/>
          <a:p>
            <a:pPr algn="ctr">
              <a:lnSpc>
                <a:spcPts val="4759"/>
              </a:lnSpc>
            </a:pPr>
            <a:r>
              <a:rPr lang="en-US" sz="3399" b="true">
                <a:solidFill>
                  <a:srgbClr val="191919"/>
                </a:solidFill>
                <a:latin typeface="Times New Roman Bold"/>
                <a:ea typeface="Times New Roman Bold"/>
                <a:cs typeface="Times New Roman Bold"/>
                <a:sym typeface="Times New Roman Bold"/>
              </a:rPr>
              <a:t>vibrent-clothes-rental-dataset</a:t>
            </a:r>
          </a:p>
        </p:txBody>
      </p:sp>
      <p:sp>
        <p:nvSpPr>
          <p:cNvPr name="TextBox 6" id="6"/>
          <p:cNvSpPr txBox="true"/>
          <p:nvPr/>
        </p:nvSpPr>
        <p:spPr>
          <a:xfrm rot="0">
            <a:off x="13426269" y="942975"/>
            <a:ext cx="1210985" cy="599440"/>
          </a:xfrm>
          <a:prstGeom prst="rect">
            <a:avLst/>
          </a:prstGeom>
        </p:spPr>
        <p:txBody>
          <a:bodyPr anchor="t" rtlCol="false" tIns="0" lIns="0" bIns="0" rIns="0">
            <a:spAutoFit/>
          </a:bodyPr>
          <a:lstStyle/>
          <a:p>
            <a:pPr algn="ctr">
              <a:lnSpc>
                <a:spcPts val="4759"/>
              </a:lnSpc>
            </a:pPr>
            <a:r>
              <a:rPr lang="en-US" sz="3399" b="true">
                <a:solidFill>
                  <a:srgbClr val="191919"/>
                </a:solidFill>
                <a:latin typeface="Times New Roman Bold"/>
                <a:ea typeface="Times New Roman Bold"/>
                <a:cs typeface="Times New Roman Bold"/>
                <a:sym typeface="Times New Roman Bold"/>
              </a:rPr>
              <a:t> H&amp;M</a:t>
            </a:r>
          </a:p>
        </p:txBody>
      </p:sp>
      <p:sp>
        <p:nvSpPr>
          <p:cNvPr name="TextBox 7" id="7"/>
          <p:cNvSpPr txBox="true"/>
          <p:nvPr/>
        </p:nvSpPr>
        <p:spPr>
          <a:xfrm rot="0">
            <a:off x="759792" y="1457960"/>
            <a:ext cx="8992321" cy="6600190"/>
          </a:xfrm>
          <a:prstGeom prst="rect">
            <a:avLst/>
          </a:prstGeom>
        </p:spPr>
        <p:txBody>
          <a:bodyPr anchor="t" rtlCol="false" tIns="0" lIns="0" bIns="0" rIns="0">
            <a:spAutoFit/>
          </a:bodyPr>
          <a:lstStyle/>
          <a:p>
            <a:pPr algn="l">
              <a:lnSpc>
                <a:spcPts val="4759"/>
              </a:lnSpc>
            </a:pPr>
            <a:r>
              <a:rPr lang="en-US" sz="3399">
                <a:solidFill>
                  <a:srgbClr val="191919"/>
                </a:solidFill>
                <a:latin typeface="Times New Roman"/>
                <a:ea typeface="Times New Roman"/>
                <a:cs typeface="Times New Roman"/>
                <a:sym typeface="Times New Roman"/>
              </a:rPr>
              <a:t>outfits</a:t>
            </a:r>
          </a:p>
          <a:p>
            <a:pPr algn="l" marL="734059" indent="-367030" lvl="1">
              <a:lnSpc>
                <a:spcPts val="4759"/>
              </a:lnSpc>
              <a:buFont typeface="Arial"/>
              <a:buChar char="•"/>
            </a:pPr>
            <a:r>
              <a:rPr lang="en-US" sz="3399">
                <a:solidFill>
                  <a:srgbClr val="191919"/>
                </a:solidFill>
                <a:latin typeface="Times New Roman"/>
                <a:ea typeface="Times New Roman"/>
                <a:cs typeface="Times New Roman"/>
                <a:sym typeface="Times New Roman"/>
              </a:rPr>
              <a:t>Thông tin của từng trang phục</a:t>
            </a:r>
          </a:p>
          <a:p>
            <a:pPr algn="l" marL="734059" indent="-367030" lvl="1">
              <a:lnSpc>
                <a:spcPts val="4759"/>
              </a:lnSpc>
              <a:buFont typeface="Arial"/>
              <a:buChar char="•"/>
            </a:pPr>
            <a:r>
              <a:rPr lang="en-US" sz="3399">
                <a:solidFill>
                  <a:srgbClr val="191919"/>
                </a:solidFill>
                <a:latin typeface="Times New Roman"/>
                <a:ea typeface="Times New Roman"/>
                <a:cs typeface="Times New Roman"/>
                <a:sym typeface="Times New Roman"/>
              </a:rPr>
              <a:t>Thuộc tính:</a:t>
            </a:r>
            <a:r>
              <a:rPr lang="en-US" sz="3399">
                <a:solidFill>
                  <a:srgbClr val="191919"/>
                </a:solidFill>
                <a:latin typeface="Times New Roman"/>
                <a:ea typeface="Times New Roman"/>
                <a:cs typeface="Times New Roman"/>
                <a:sym typeface="Times New Roman"/>
              </a:rPr>
              <a:t> tên, mô tả, loại trang phục, nhóm màu sắc...</a:t>
            </a:r>
          </a:p>
          <a:p>
            <a:pPr algn="l">
              <a:lnSpc>
                <a:spcPts val="4759"/>
              </a:lnSpc>
            </a:pPr>
            <a:r>
              <a:rPr lang="en-US" sz="3399">
                <a:solidFill>
                  <a:srgbClr val="191919"/>
                </a:solidFill>
                <a:latin typeface="Times New Roman"/>
                <a:ea typeface="Times New Roman"/>
                <a:cs typeface="Times New Roman"/>
                <a:sym typeface="Times New Roman"/>
              </a:rPr>
              <a:t>picture_triplets</a:t>
            </a:r>
          </a:p>
          <a:p>
            <a:pPr algn="l" marL="734059" indent="-367030" lvl="1">
              <a:lnSpc>
                <a:spcPts val="4759"/>
              </a:lnSpc>
              <a:buFont typeface="Arial"/>
              <a:buChar char="•"/>
            </a:pPr>
            <a:r>
              <a:rPr lang="en-US" sz="3399">
                <a:solidFill>
                  <a:srgbClr val="191919"/>
                </a:solidFill>
                <a:latin typeface="Times New Roman"/>
                <a:ea typeface="Times New Roman"/>
                <a:cs typeface="Times New Roman"/>
                <a:sym typeface="Times New Roman"/>
              </a:rPr>
              <a:t>Mappi</a:t>
            </a:r>
            <a:r>
              <a:rPr lang="en-US" sz="3399">
                <a:solidFill>
                  <a:srgbClr val="191919"/>
                </a:solidFill>
                <a:latin typeface="Times New Roman"/>
                <a:ea typeface="Times New Roman"/>
                <a:cs typeface="Times New Roman"/>
                <a:sym typeface="Times New Roman"/>
              </a:rPr>
              <a:t>ng giữa outfit và ảnh của outfit</a:t>
            </a:r>
          </a:p>
          <a:p>
            <a:pPr algn="l" marL="734059" indent="-367030" lvl="1">
              <a:lnSpc>
                <a:spcPts val="4759"/>
              </a:lnSpc>
              <a:buFont typeface="Arial"/>
              <a:buChar char="•"/>
            </a:pPr>
            <a:r>
              <a:rPr lang="en-US" sz="3399">
                <a:solidFill>
                  <a:srgbClr val="191919"/>
                </a:solidFill>
                <a:latin typeface="Times New Roman"/>
                <a:ea typeface="Times New Roman"/>
                <a:cs typeface="Times New Roman"/>
                <a:sym typeface="Times New Roman"/>
              </a:rPr>
              <a:t>Dùng để trích xuất embedding hình ảnh (FashionCLIP)</a:t>
            </a:r>
          </a:p>
          <a:p>
            <a:pPr algn="l">
              <a:lnSpc>
                <a:spcPts val="4759"/>
              </a:lnSpc>
            </a:pPr>
            <a:r>
              <a:rPr lang="en-US" sz="3399">
                <a:solidFill>
                  <a:srgbClr val="191919"/>
                </a:solidFill>
                <a:latin typeface="Times New Roman"/>
                <a:ea typeface="Times New Roman"/>
                <a:cs typeface="Times New Roman"/>
                <a:sym typeface="Times New Roman"/>
              </a:rPr>
              <a:t> </a:t>
            </a:r>
            <a:r>
              <a:rPr lang="en-US" sz="3399">
                <a:solidFill>
                  <a:srgbClr val="191919"/>
                </a:solidFill>
                <a:latin typeface="Times New Roman"/>
                <a:ea typeface="Times New Roman"/>
                <a:cs typeface="Times New Roman"/>
                <a:sym typeface="Times New Roman"/>
              </a:rPr>
              <a:t>user_activity_triplets</a:t>
            </a:r>
          </a:p>
          <a:p>
            <a:pPr algn="l" marL="734059" indent="-367030" lvl="1">
              <a:lnSpc>
                <a:spcPts val="4759"/>
              </a:lnSpc>
              <a:buFont typeface="Arial"/>
              <a:buChar char="•"/>
            </a:pPr>
            <a:r>
              <a:rPr lang="en-US" sz="3399">
                <a:solidFill>
                  <a:srgbClr val="191919"/>
                </a:solidFill>
                <a:latin typeface="Times New Roman"/>
                <a:ea typeface="Times New Roman"/>
                <a:cs typeface="Times New Roman"/>
                <a:sym typeface="Times New Roman"/>
              </a:rPr>
              <a:t>Lịch sử tương tác/thuê đồ của người dùng</a:t>
            </a:r>
          </a:p>
          <a:p>
            <a:pPr algn="l" marL="734059" indent="-367030" lvl="1">
              <a:lnSpc>
                <a:spcPts val="4759"/>
              </a:lnSpc>
              <a:buFont typeface="Arial"/>
              <a:buChar char="•"/>
            </a:pPr>
            <a:r>
              <a:rPr lang="en-US" sz="3399">
                <a:solidFill>
                  <a:srgbClr val="191919"/>
                </a:solidFill>
                <a:latin typeface="Times New Roman"/>
                <a:ea typeface="Times New Roman"/>
                <a:cs typeface="Times New Roman"/>
                <a:sym typeface="Times New Roman"/>
              </a:rPr>
              <a:t>Là nguồn dữ liệu chính để huấn luyện mô hình </a:t>
            </a:r>
          </a:p>
        </p:txBody>
      </p:sp>
      <p:sp>
        <p:nvSpPr>
          <p:cNvPr name="TextBox 8" id="8"/>
          <p:cNvSpPr txBox="true"/>
          <p:nvPr/>
        </p:nvSpPr>
        <p:spPr>
          <a:xfrm rot="0">
            <a:off x="10161892" y="1457960"/>
            <a:ext cx="8126108" cy="7200265"/>
          </a:xfrm>
          <a:prstGeom prst="rect">
            <a:avLst/>
          </a:prstGeom>
        </p:spPr>
        <p:txBody>
          <a:bodyPr anchor="t" rtlCol="false" tIns="0" lIns="0" bIns="0" rIns="0">
            <a:spAutoFit/>
          </a:bodyPr>
          <a:lstStyle/>
          <a:p>
            <a:pPr algn="l">
              <a:lnSpc>
                <a:spcPts val="4759"/>
              </a:lnSpc>
            </a:pPr>
            <a:r>
              <a:rPr lang="en-US" sz="3399">
                <a:solidFill>
                  <a:srgbClr val="191919"/>
                </a:solidFill>
                <a:latin typeface="Times New Roman"/>
                <a:ea typeface="Times New Roman"/>
                <a:cs typeface="Times New Roman"/>
                <a:sym typeface="Times New Roman"/>
              </a:rPr>
              <a:t>articles</a:t>
            </a:r>
          </a:p>
          <a:p>
            <a:pPr algn="l" marL="734059" indent="-367030" lvl="1">
              <a:lnSpc>
                <a:spcPts val="4759"/>
              </a:lnSpc>
              <a:buFont typeface="Arial"/>
              <a:buChar char="•"/>
            </a:pPr>
            <a:r>
              <a:rPr lang="en-US" sz="3399">
                <a:solidFill>
                  <a:srgbClr val="191919"/>
                </a:solidFill>
                <a:latin typeface="Times New Roman"/>
                <a:ea typeface="Times New Roman"/>
                <a:cs typeface="Times New Roman"/>
                <a:sym typeface="Times New Roman"/>
              </a:rPr>
              <a:t>Thông tin sản phẩm</a:t>
            </a:r>
          </a:p>
          <a:p>
            <a:pPr algn="l" marL="734059" indent="-367030" lvl="1">
              <a:lnSpc>
                <a:spcPts val="4759"/>
              </a:lnSpc>
              <a:buFont typeface="Arial"/>
              <a:buChar char="•"/>
            </a:pPr>
            <a:r>
              <a:rPr lang="en-US" sz="3399">
                <a:solidFill>
                  <a:srgbClr val="191919"/>
                </a:solidFill>
                <a:latin typeface="Times New Roman"/>
                <a:ea typeface="Times New Roman"/>
                <a:cs typeface="Times New Roman"/>
                <a:sym typeface="Times New Roman"/>
              </a:rPr>
              <a:t>Mã loại, chất liệu, nhóm sản phẩm, mô tả…</a:t>
            </a:r>
          </a:p>
          <a:p>
            <a:pPr algn="l">
              <a:lnSpc>
                <a:spcPts val="4759"/>
              </a:lnSpc>
            </a:pPr>
            <a:r>
              <a:rPr lang="en-US" sz="3399">
                <a:solidFill>
                  <a:srgbClr val="191919"/>
                </a:solidFill>
                <a:latin typeface="Times New Roman"/>
                <a:ea typeface="Times New Roman"/>
                <a:cs typeface="Times New Roman"/>
                <a:sym typeface="Times New Roman"/>
              </a:rPr>
              <a:t> customers</a:t>
            </a:r>
          </a:p>
          <a:p>
            <a:pPr algn="l" marL="734059" indent="-367030" lvl="1">
              <a:lnSpc>
                <a:spcPts val="4759"/>
              </a:lnSpc>
              <a:buFont typeface="Arial"/>
              <a:buChar char="•"/>
            </a:pPr>
            <a:r>
              <a:rPr lang="en-US" sz="3399">
                <a:solidFill>
                  <a:srgbClr val="191919"/>
                </a:solidFill>
                <a:latin typeface="Times New Roman"/>
                <a:ea typeface="Times New Roman"/>
                <a:cs typeface="Times New Roman"/>
                <a:sym typeface="Times New Roman"/>
              </a:rPr>
              <a:t>Thông tin khách hàng</a:t>
            </a:r>
          </a:p>
          <a:p>
            <a:pPr algn="l" marL="734059" indent="-367030" lvl="1">
              <a:lnSpc>
                <a:spcPts val="4759"/>
              </a:lnSpc>
              <a:buFont typeface="Arial"/>
              <a:buChar char="•"/>
            </a:pPr>
            <a:r>
              <a:rPr lang="en-US" sz="3399">
                <a:solidFill>
                  <a:srgbClr val="191919"/>
                </a:solidFill>
                <a:latin typeface="Times New Roman"/>
                <a:ea typeface="Times New Roman"/>
                <a:cs typeface="Times New Roman"/>
                <a:sym typeface="Times New Roman"/>
              </a:rPr>
              <a:t>Tuổi, quốc gia, membership</a:t>
            </a:r>
          </a:p>
          <a:p>
            <a:pPr algn="l">
              <a:lnSpc>
                <a:spcPts val="4759"/>
              </a:lnSpc>
            </a:pPr>
            <a:r>
              <a:rPr lang="en-US" sz="3399">
                <a:solidFill>
                  <a:srgbClr val="191919"/>
                </a:solidFill>
                <a:latin typeface="Times New Roman"/>
                <a:ea typeface="Times New Roman"/>
                <a:cs typeface="Times New Roman"/>
                <a:sym typeface="Times New Roman"/>
              </a:rPr>
              <a:t> transactions_train</a:t>
            </a:r>
          </a:p>
          <a:p>
            <a:pPr algn="l" marL="734059" indent="-367030" lvl="1">
              <a:lnSpc>
                <a:spcPts val="4759"/>
              </a:lnSpc>
              <a:buFont typeface="Arial"/>
              <a:buChar char="•"/>
            </a:pPr>
            <a:r>
              <a:rPr lang="en-US" sz="3399">
                <a:solidFill>
                  <a:srgbClr val="191919"/>
                </a:solidFill>
                <a:latin typeface="Times New Roman"/>
                <a:ea typeface="Times New Roman"/>
                <a:cs typeface="Times New Roman"/>
                <a:sym typeface="Times New Roman"/>
              </a:rPr>
              <a:t>Lịch sử mua hàng</a:t>
            </a:r>
          </a:p>
          <a:p>
            <a:pPr algn="l" marL="734059" indent="-367030" lvl="1">
              <a:lnSpc>
                <a:spcPts val="4759"/>
              </a:lnSpc>
              <a:buFont typeface="Arial"/>
              <a:buChar char="•"/>
            </a:pPr>
            <a:r>
              <a:rPr lang="en-US" sz="3399">
                <a:solidFill>
                  <a:srgbClr val="191919"/>
                </a:solidFill>
                <a:latin typeface="Times New Roman"/>
                <a:ea typeface="Times New Roman"/>
                <a:cs typeface="Times New Roman"/>
                <a:sym typeface="Times New Roman"/>
              </a:rPr>
              <a:t>Dùng làm nguồn implicit feedback để train model</a:t>
            </a:r>
          </a:p>
          <a:p>
            <a:pPr algn="l">
              <a:lnSpc>
                <a:spcPts val="4759"/>
              </a:lnSpc>
            </a:pPr>
          </a:p>
        </p:txBody>
      </p:sp>
      <p:sp>
        <p:nvSpPr>
          <p:cNvPr name="TextBox 9" id="9"/>
          <p:cNvSpPr txBox="true"/>
          <p:nvPr/>
        </p:nvSpPr>
        <p:spPr>
          <a:xfrm rot="0">
            <a:off x="6140326" y="303276"/>
            <a:ext cx="6590796" cy="539496"/>
          </a:xfrm>
          <a:prstGeom prst="rect">
            <a:avLst/>
          </a:prstGeom>
        </p:spPr>
        <p:txBody>
          <a:bodyPr anchor="t" rtlCol="false" tIns="0" lIns="0" bIns="0" rIns="0">
            <a:spAutoFit/>
          </a:bodyPr>
          <a:lstStyle/>
          <a:p>
            <a:pPr algn="ctr">
              <a:lnSpc>
                <a:spcPts val="4181"/>
              </a:lnSpc>
            </a:pPr>
            <a:r>
              <a:rPr lang="en-US" b="true" sz="3399" spc="203">
                <a:solidFill>
                  <a:srgbClr val="191919"/>
                </a:solidFill>
                <a:latin typeface="Times New Roman Bold"/>
                <a:ea typeface="Times New Roman Bold"/>
                <a:cs typeface="Times New Roman Bold"/>
                <a:sym typeface="Times New Roman Bold"/>
              </a:rPr>
              <a:t>Chi tiết các bảng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832771" y="7574949"/>
            <a:ext cx="3366703" cy="3366703"/>
          </a:xfrm>
          <a:custGeom>
            <a:avLst/>
            <a:gdLst/>
            <a:ahLst/>
            <a:cxnLst/>
            <a:rect r="r" b="b" t="t" l="l"/>
            <a:pathLst>
              <a:path h="3366703" w="3366703">
                <a:moveTo>
                  <a:pt x="0" y="0"/>
                </a:moveTo>
                <a:lnTo>
                  <a:pt x="3366703" y="0"/>
                </a:lnTo>
                <a:lnTo>
                  <a:pt x="3366703" y="3366702"/>
                </a:lnTo>
                <a:lnTo>
                  <a:pt x="0" y="33667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494883" y="-1029278"/>
            <a:ext cx="3244699" cy="3244699"/>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C9EF"/>
            </a:solidFill>
          </p:spPr>
        </p:sp>
      </p:grpSp>
      <p:sp>
        <p:nvSpPr>
          <p:cNvPr name="TextBox 5" id="5"/>
          <p:cNvSpPr txBox="true"/>
          <p:nvPr/>
        </p:nvSpPr>
        <p:spPr>
          <a:xfrm rot="0">
            <a:off x="5706162" y="981075"/>
            <a:ext cx="6875675" cy="744474"/>
          </a:xfrm>
          <a:prstGeom prst="rect">
            <a:avLst/>
          </a:prstGeom>
        </p:spPr>
        <p:txBody>
          <a:bodyPr anchor="t" rtlCol="false" tIns="0" lIns="0" bIns="0" rIns="0">
            <a:spAutoFit/>
          </a:bodyPr>
          <a:lstStyle/>
          <a:p>
            <a:pPr algn="ctr">
              <a:lnSpc>
                <a:spcPts val="5658"/>
              </a:lnSpc>
            </a:pPr>
            <a:r>
              <a:rPr lang="en-US" b="true" sz="4600" spc="276">
                <a:solidFill>
                  <a:srgbClr val="191919"/>
                </a:solidFill>
                <a:latin typeface="Times New Roman Bold"/>
                <a:ea typeface="Times New Roman Bold"/>
                <a:cs typeface="Times New Roman Bold"/>
                <a:sym typeface="Times New Roman Bold"/>
              </a:rPr>
              <a:t>Các mô hình sử dụng</a:t>
            </a:r>
          </a:p>
        </p:txBody>
      </p:sp>
      <p:sp>
        <p:nvSpPr>
          <p:cNvPr name="TextBox 6" id="6"/>
          <p:cNvSpPr txBox="true"/>
          <p:nvPr/>
        </p:nvSpPr>
        <p:spPr>
          <a:xfrm rot="0">
            <a:off x="4432545" y="2743835"/>
            <a:ext cx="16298585" cy="2399665"/>
          </a:xfrm>
          <a:prstGeom prst="rect">
            <a:avLst/>
          </a:prstGeom>
        </p:spPr>
        <p:txBody>
          <a:bodyPr anchor="t" rtlCol="false" tIns="0" lIns="0" bIns="0" rIns="0">
            <a:spAutoFit/>
          </a:bodyPr>
          <a:lstStyle/>
          <a:p>
            <a:pPr algn="just">
              <a:lnSpc>
                <a:spcPts val="4759"/>
              </a:lnSpc>
              <a:spcBef>
                <a:spcPct val="0"/>
              </a:spcBef>
            </a:pPr>
            <a:r>
              <a:rPr lang="en-US" b="true" sz="3399">
                <a:solidFill>
                  <a:srgbClr val="191919"/>
                </a:solidFill>
                <a:latin typeface="Times New Roman Bold"/>
                <a:ea typeface="Times New Roman Bold"/>
                <a:cs typeface="Times New Roman Bold"/>
                <a:sym typeface="Times New Roman Bold"/>
              </a:rPr>
              <a:t>ALS – Alternating Least Squares (Implicit Feedback)</a:t>
            </a:r>
          </a:p>
          <a:p>
            <a:pPr algn="just">
              <a:lnSpc>
                <a:spcPts val="4759"/>
              </a:lnSpc>
              <a:spcBef>
                <a:spcPct val="0"/>
              </a:spcBef>
            </a:pPr>
            <a:r>
              <a:rPr lang="en-US" b="true" sz="3399">
                <a:solidFill>
                  <a:srgbClr val="191919"/>
                </a:solidFill>
                <a:latin typeface="Times New Roman Bold"/>
                <a:ea typeface="Times New Roman Bold"/>
                <a:cs typeface="Times New Roman Bold"/>
                <a:sym typeface="Times New Roman Bold"/>
              </a:rPr>
              <a:t>NGCF – Neural Graph Collaborative Filtering</a:t>
            </a:r>
          </a:p>
          <a:p>
            <a:pPr algn="just">
              <a:lnSpc>
                <a:spcPts val="4759"/>
              </a:lnSpc>
              <a:spcBef>
                <a:spcPct val="0"/>
              </a:spcBef>
            </a:pPr>
            <a:r>
              <a:rPr lang="en-US" b="true" sz="3399">
                <a:solidFill>
                  <a:srgbClr val="191919"/>
                </a:solidFill>
                <a:latin typeface="Times New Roman Bold"/>
                <a:ea typeface="Times New Roman Bold"/>
                <a:cs typeface="Times New Roman Bold"/>
                <a:sym typeface="Times New Roman Bold"/>
              </a:rPr>
              <a:t>LightGCN – Light Graph Convolution Network</a:t>
            </a:r>
          </a:p>
          <a:p>
            <a:pPr algn="just">
              <a:lnSpc>
                <a:spcPts val="4759"/>
              </a:lnSpc>
              <a:spcBef>
                <a:spcPct val="0"/>
              </a:spcBef>
            </a:pPr>
            <a:r>
              <a:rPr lang="en-US" b="true" sz="3399">
                <a:solidFill>
                  <a:srgbClr val="191919"/>
                </a:solidFill>
                <a:latin typeface="Times New Roman Bold"/>
                <a:ea typeface="Times New Roman Bold"/>
                <a:cs typeface="Times New Roman Bold"/>
                <a:sym typeface="Times New Roman Bold"/>
              </a:rPr>
              <a:t>CBF – Content-Based Filtering (FashionCLIP)</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683351" y="8347690"/>
            <a:ext cx="3366703" cy="3366703"/>
          </a:xfrm>
          <a:custGeom>
            <a:avLst/>
            <a:gdLst/>
            <a:ahLst/>
            <a:cxnLst/>
            <a:rect r="r" b="b" t="t" l="l"/>
            <a:pathLst>
              <a:path h="3366703" w="3366703">
                <a:moveTo>
                  <a:pt x="0" y="0"/>
                </a:moveTo>
                <a:lnTo>
                  <a:pt x="3366702" y="0"/>
                </a:lnTo>
                <a:lnTo>
                  <a:pt x="3366702" y="3366702"/>
                </a:lnTo>
                <a:lnTo>
                  <a:pt x="0" y="33667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494883" y="-1029278"/>
            <a:ext cx="3244699" cy="3244699"/>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C9EF"/>
            </a:solidFill>
          </p:spPr>
        </p:sp>
      </p:grpSp>
      <p:sp>
        <p:nvSpPr>
          <p:cNvPr name="TextBox 5" id="5"/>
          <p:cNvSpPr txBox="true"/>
          <p:nvPr/>
        </p:nvSpPr>
        <p:spPr>
          <a:xfrm rot="0">
            <a:off x="4378014" y="545447"/>
            <a:ext cx="9531972" cy="1458849"/>
          </a:xfrm>
          <a:prstGeom prst="rect">
            <a:avLst/>
          </a:prstGeom>
        </p:spPr>
        <p:txBody>
          <a:bodyPr anchor="t" rtlCol="false" tIns="0" lIns="0" bIns="0" rIns="0">
            <a:spAutoFit/>
          </a:bodyPr>
          <a:lstStyle/>
          <a:p>
            <a:pPr algn="ctr">
              <a:lnSpc>
                <a:spcPts val="5658"/>
              </a:lnSpc>
            </a:pPr>
            <a:r>
              <a:rPr lang="en-US" b="true" sz="4600" spc="276">
                <a:solidFill>
                  <a:srgbClr val="191919"/>
                </a:solidFill>
                <a:latin typeface="Times New Roman Bold"/>
                <a:ea typeface="Times New Roman Bold"/>
                <a:cs typeface="Times New Roman Bold"/>
                <a:sym typeface="Times New Roman Bold"/>
              </a:rPr>
              <a:t>ALS – Alternating Least Squares (Implicit Feedback)</a:t>
            </a:r>
          </a:p>
        </p:txBody>
      </p:sp>
      <p:sp>
        <p:nvSpPr>
          <p:cNvPr name="TextBox 6" id="6"/>
          <p:cNvSpPr txBox="true"/>
          <p:nvPr/>
        </p:nvSpPr>
        <p:spPr>
          <a:xfrm rot="0">
            <a:off x="1028700" y="1956671"/>
            <a:ext cx="16631448" cy="7173849"/>
          </a:xfrm>
          <a:prstGeom prst="rect">
            <a:avLst/>
          </a:prstGeom>
        </p:spPr>
        <p:txBody>
          <a:bodyPr anchor="t" rtlCol="false" tIns="0" lIns="0" bIns="0" rIns="0">
            <a:spAutoFit/>
          </a:bodyPr>
          <a:lstStyle/>
          <a:p>
            <a:pPr algn="l">
              <a:lnSpc>
                <a:spcPts val="5657"/>
              </a:lnSpc>
            </a:pPr>
            <a:r>
              <a:rPr lang="en-US" sz="4599" spc="275">
                <a:solidFill>
                  <a:srgbClr val="191919"/>
                </a:solidFill>
                <a:latin typeface="Times New Roman"/>
                <a:ea typeface="Times New Roman"/>
                <a:cs typeface="Times New Roman"/>
                <a:sym typeface="Times New Roman"/>
              </a:rPr>
              <a:t>Đây là phương pháp Matrix Factorization dùng đẻ lọc các vecto ẩn cho user và item.</a:t>
            </a:r>
          </a:p>
          <a:p>
            <a:pPr algn="l">
              <a:lnSpc>
                <a:spcPts val="5657"/>
              </a:lnSpc>
            </a:pPr>
            <a:r>
              <a:rPr lang="en-US" sz="4599" spc="275">
                <a:solidFill>
                  <a:srgbClr val="191919"/>
                </a:solidFill>
                <a:latin typeface="Times New Roman"/>
                <a:ea typeface="Times New Roman"/>
                <a:cs typeface="Times New Roman"/>
                <a:sym typeface="Times New Roman"/>
              </a:rPr>
              <a:t>Ở đây phân rã ma trận User x Item ra thành 2 ma trận nhỏ hơn </a:t>
            </a:r>
          </a:p>
          <a:p>
            <a:pPr algn="l">
              <a:lnSpc>
                <a:spcPts val="5657"/>
              </a:lnSpc>
            </a:pPr>
            <a:r>
              <a:rPr lang="en-US" sz="4599" spc="275">
                <a:solidFill>
                  <a:srgbClr val="191919"/>
                </a:solidFill>
                <a:latin typeface="Times New Roman"/>
                <a:ea typeface="Times New Roman"/>
                <a:cs typeface="Times New Roman"/>
                <a:sym typeface="Times New Roman"/>
              </a:rPr>
              <a:t>P(ma trận đặc trưng của người dùng) </a:t>
            </a:r>
          </a:p>
          <a:p>
            <a:pPr algn="l">
              <a:lnSpc>
                <a:spcPts val="5657"/>
              </a:lnSpc>
            </a:pPr>
            <a:r>
              <a:rPr lang="en-US" sz="4599" spc="275">
                <a:solidFill>
                  <a:srgbClr val="191919"/>
                </a:solidFill>
                <a:latin typeface="Times New Roman"/>
                <a:ea typeface="Times New Roman"/>
                <a:cs typeface="Times New Roman"/>
                <a:sym typeface="Times New Roman"/>
              </a:rPr>
              <a:t>Q(ma trận đặc trưng của vật phẩm)</a:t>
            </a:r>
          </a:p>
          <a:p>
            <a:pPr algn="l">
              <a:lnSpc>
                <a:spcPts val="5657"/>
              </a:lnSpc>
            </a:pPr>
            <a:r>
              <a:rPr lang="en-US" sz="4599" spc="275">
                <a:solidFill>
                  <a:srgbClr val="191919"/>
                </a:solidFill>
                <a:latin typeface="Times New Roman"/>
                <a:ea typeface="Times New Roman"/>
                <a:cs typeface="Times New Roman"/>
                <a:sym typeface="Times New Roman"/>
              </a:rPr>
              <a:t>sau  đó sẽ cập nhật  luân phiên 1 trong 2 ma trận sau khi ổn định sẽ tiến hành dự đoán </a:t>
            </a:r>
          </a:p>
          <a:p>
            <a:pPr algn="l">
              <a:lnSpc>
                <a:spcPts val="5657"/>
              </a:lnSpc>
              <a:spcBef>
                <a:spcPct val="0"/>
              </a:spcBef>
            </a:pPr>
            <a:r>
              <a:rPr lang="en-US" sz="4599" spc="275">
                <a:solidFill>
                  <a:srgbClr val="191919"/>
                </a:solidFill>
                <a:latin typeface="Times New Roman"/>
                <a:ea typeface="Times New Roman"/>
                <a:cs typeface="Times New Roman"/>
                <a:sym typeface="Times New Roman"/>
              </a:rPr>
              <a:t>Điểm tương đồng giữa user-item sẽ tính bằng tích vô hướng enmbedding của cả 2(chỉ số càng cao thì càng thích hợp)</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86963" y="1457960"/>
            <a:ext cx="15728296" cy="7800340"/>
          </a:xfrm>
          <a:prstGeom prst="rect">
            <a:avLst/>
          </a:prstGeom>
        </p:spPr>
        <p:txBody>
          <a:bodyPr anchor="t" rtlCol="false" tIns="0" lIns="0" bIns="0" rIns="0">
            <a:spAutoFit/>
          </a:bodyPr>
          <a:lstStyle/>
          <a:p>
            <a:pPr algn="l">
              <a:lnSpc>
                <a:spcPts val="4759"/>
              </a:lnSpc>
            </a:pPr>
            <a:r>
              <a:rPr lang="en-US" sz="3399">
                <a:solidFill>
                  <a:srgbClr val="000000"/>
                </a:solidFill>
                <a:latin typeface="Times New Roman"/>
                <a:ea typeface="Times New Roman"/>
                <a:cs typeface="Times New Roman"/>
                <a:sym typeface="Times New Roman"/>
              </a:rPr>
              <a:t>NGCF biểu diễn user và item như 1 đồ thị và lan truyền thông tin qua các cạnh user-item</a:t>
            </a:r>
          </a:p>
          <a:p>
            <a:pPr algn="l">
              <a:lnSpc>
                <a:spcPts val="4759"/>
              </a:lnSpc>
            </a:pPr>
            <a:r>
              <a:rPr lang="en-US" sz="3399">
                <a:solidFill>
                  <a:srgbClr val="000000"/>
                </a:solidFill>
                <a:latin typeface="Times New Roman"/>
                <a:ea typeface="Times New Roman"/>
                <a:cs typeface="Times New Roman"/>
                <a:sym typeface="Times New Roman"/>
              </a:rPr>
              <a:t>User và item là các node trong graph, một cạnh giữa 2 u và i chỉ xuất hiện khi user u đã tương tác với item i</a:t>
            </a:r>
          </a:p>
          <a:p>
            <a:pPr algn="l">
              <a:lnSpc>
                <a:spcPts val="4759"/>
              </a:lnSpc>
            </a:pPr>
            <a:r>
              <a:rPr lang="en-US" sz="3399">
                <a:solidFill>
                  <a:srgbClr val="000000"/>
                </a:solidFill>
                <a:latin typeface="Times New Roman"/>
                <a:ea typeface="Times New Roman"/>
                <a:cs typeface="Times New Roman"/>
                <a:sym typeface="Times New Roman"/>
              </a:rPr>
              <a:t>Ở đây NGCF lan truyền thông tin qua graph giúp mô hình hiểu thêm về quan hệ user-item,item-item và user-user từ đó hình thành quan hệ bậc cao hơn so với ALS(chỉ khi có tương tác mới có thông tin) thì ở đây có lan truyền thông tin sẽ có được thông tin kể cả khi không có tương tác</a:t>
            </a:r>
          </a:p>
          <a:p>
            <a:pPr algn="l">
              <a:lnSpc>
                <a:spcPts val="4759"/>
              </a:lnSpc>
            </a:pPr>
            <a:r>
              <a:rPr lang="en-US" sz="3399">
                <a:solidFill>
                  <a:srgbClr val="000000"/>
                </a:solidFill>
                <a:latin typeface="Times New Roman"/>
                <a:ea typeface="Times New Roman"/>
                <a:cs typeface="Times New Roman"/>
                <a:sym typeface="Times New Roman"/>
              </a:rPr>
              <a:t>Lan truyền trong NGCF trong mỗi lớp embedding dược cập nhật bằng công thức:</a:t>
            </a:r>
          </a:p>
          <a:p>
            <a:pPr algn="l">
              <a:lnSpc>
                <a:spcPts val="4759"/>
              </a:lnSpc>
            </a:pPr>
          </a:p>
          <a:p>
            <a:pPr algn="l">
              <a:lnSpc>
                <a:spcPts val="4759"/>
              </a:lnSpc>
            </a:pPr>
          </a:p>
          <a:p>
            <a:pPr algn="l">
              <a:lnSpc>
                <a:spcPts val="4759"/>
              </a:lnSpc>
            </a:pPr>
          </a:p>
          <a:p>
            <a:pPr algn="l">
              <a:lnSpc>
                <a:spcPts val="4759"/>
              </a:lnSpc>
              <a:spcBef>
                <a:spcPct val="0"/>
              </a:spcBef>
            </a:pPr>
            <a:r>
              <a:rPr lang="en-US" sz="3399">
                <a:solidFill>
                  <a:srgbClr val="000000"/>
                </a:solidFill>
                <a:latin typeface="Times New Roman"/>
                <a:ea typeface="Times New Roman"/>
                <a:cs typeface="Times New Roman"/>
                <a:sym typeface="Times New Roman"/>
              </a:rPr>
              <a:t>Cuối cùng sau nhiều lần lan truyền thì sẽ tìm item tương thích giống với ALS là tích vô hướng</a:t>
            </a:r>
          </a:p>
        </p:txBody>
      </p:sp>
      <p:grpSp>
        <p:nvGrpSpPr>
          <p:cNvPr name="Group 3" id="3"/>
          <p:cNvGrpSpPr/>
          <p:nvPr/>
        </p:nvGrpSpPr>
        <p:grpSpPr>
          <a:xfrm rot="0">
            <a:off x="16665651" y="-1246611"/>
            <a:ext cx="3244699" cy="3244699"/>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C9EF"/>
            </a:solidFill>
          </p:spPr>
        </p:sp>
      </p:grpSp>
      <p:sp>
        <p:nvSpPr>
          <p:cNvPr name="Freeform 5" id="5"/>
          <p:cNvSpPr/>
          <p:nvPr/>
        </p:nvSpPr>
        <p:spPr>
          <a:xfrm flipH="false" flipV="false" rot="0">
            <a:off x="3796827" y="6540744"/>
            <a:ext cx="10356272" cy="1165809"/>
          </a:xfrm>
          <a:custGeom>
            <a:avLst/>
            <a:gdLst/>
            <a:ahLst/>
            <a:cxnLst/>
            <a:rect r="r" b="b" t="t" l="l"/>
            <a:pathLst>
              <a:path h="1165809" w="10356272">
                <a:moveTo>
                  <a:pt x="0" y="0"/>
                </a:moveTo>
                <a:lnTo>
                  <a:pt x="10356272" y="0"/>
                </a:lnTo>
                <a:lnTo>
                  <a:pt x="10356272" y="1165809"/>
                </a:lnTo>
                <a:lnTo>
                  <a:pt x="0" y="1165809"/>
                </a:lnTo>
                <a:lnTo>
                  <a:pt x="0" y="0"/>
                </a:lnTo>
                <a:close/>
              </a:path>
            </a:pathLst>
          </a:custGeom>
          <a:blipFill>
            <a:blip r:embed="rId2"/>
            <a:stretch>
              <a:fillRect l="0" t="0" r="0" b="0"/>
            </a:stretch>
          </a:blipFill>
        </p:spPr>
      </p:sp>
      <p:sp>
        <p:nvSpPr>
          <p:cNvPr name="TextBox 6" id="6"/>
          <p:cNvSpPr txBox="true"/>
          <p:nvPr/>
        </p:nvSpPr>
        <p:spPr>
          <a:xfrm rot="0">
            <a:off x="4683891" y="686117"/>
            <a:ext cx="8582144"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NGCF – Neural Graph Collaborative Filtering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55704" y="1637509"/>
            <a:ext cx="15728296" cy="1799590"/>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Times New Roman"/>
                <a:ea typeface="Times New Roman"/>
                <a:cs typeface="Times New Roman"/>
                <a:sym typeface="Times New Roman"/>
              </a:rPr>
              <a:t>Đây là một phiên bản đơn giản hơn của NGCF nó không hề có các thành phần phức tạp như W1,W2, nhân từng phần tử hoặc là kích hoạt phi tuyến tính nó chỉ tính bằng công thức đơn giản:</a:t>
            </a:r>
          </a:p>
        </p:txBody>
      </p:sp>
      <p:grpSp>
        <p:nvGrpSpPr>
          <p:cNvPr name="Group 3" id="3"/>
          <p:cNvGrpSpPr/>
          <p:nvPr/>
        </p:nvGrpSpPr>
        <p:grpSpPr>
          <a:xfrm rot="0">
            <a:off x="16494883" y="-1029278"/>
            <a:ext cx="3244699" cy="3244699"/>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C9EF"/>
            </a:solidFill>
          </p:spPr>
        </p:sp>
      </p:grpSp>
      <p:sp>
        <p:nvSpPr>
          <p:cNvPr name="Freeform 5" id="5"/>
          <p:cNvSpPr/>
          <p:nvPr/>
        </p:nvSpPr>
        <p:spPr>
          <a:xfrm flipH="false" flipV="false" rot="0">
            <a:off x="3947550" y="3094638"/>
            <a:ext cx="4133932" cy="1411586"/>
          </a:xfrm>
          <a:custGeom>
            <a:avLst/>
            <a:gdLst/>
            <a:ahLst/>
            <a:cxnLst/>
            <a:rect r="r" b="b" t="t" l="l"/>
            <a:pathLst>
              <a:path h="1411586" w="4133932">
                <a:moveTo>
                  <a:pt x="0" y="0"/>
                </a:moveTo>
                <a:lnTo>
                  <a:pt x="4133931" y="0"/>
                </a:lnTo>
                <a:lnTo>
                  <a:pt x="4133931" y="1411586"/>
                </a:lnTo>
                <a:lnTo>
                  <a:pt x="0" y="1411586"/>
                </a:lnTo>
                <a:lnTo>
                  <a:pt x="0" y="0"/>
                </a:lnTo>
                <a:close/>
              </a:path>
            </a:pathLst>
          </a:custGeom>
          <a:blipFill>
            <a:blip r:embed="rId2"/>
            <a:stretch>
              <a:fillRect l="0" t="0" r="0" b="0"/>
            </a:stretch>
          </a:blipFill>
        </p:spPr>
      </p:sp>
      <p:sp>
        <p:nvSpPr>
          <p:cNvPr name="TextBox 6" id="6"/>
          <p:cNvSpPr txBox="true"/>
          <p:nvPr/>
        </p:nvSpPr>
        <p:spPr>
          <a:xfrm rot="0">
            <a:off x="4555006" y="686117"/>
            <a:ext cx="8839914"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Light</a:t>
            </a:r>
            <a:r>
              <a:rPr lang="en-US" b="true" sz="3399">
                <a:solidFill>
                  <a:srgbClr val="000000"/>
                </a:solidFill>
                <a:latin typeface="Times New Roman Bold"/>
                <a:ea typeface="Times New Roman Bold"/>
                <a:cs typeface="Times New Roman Bold"/>
                <a:sym typeface="Times New Roman Bold"/>
              </a:rPr>
              <a:t>GCN – Light Graph Convolution Network</a:t>
            </a:r>
          </a:p>
        </p:txBody>
      </p:sp>
      <p:sp>
        <p:nvSpPr>
          <p:cNvPr name="TextBox 7" id="7"/>
          <p:cNvSpPr txBox="true"/>
          <p:nvPr/>
        </p:nvSpPr>
        <p:spPr>
          <a:xfrm rot="0">
            <a:off x="1355373" y="4420499"/>
            <a:ext cx="15239179" cy="2399665"/>
          </a:xfrm>
          <a:prstGeom prst="rect">
            <a:avLst/>
          </a:prstGeom>
        </p:spPr>
        <p:txBody>
          <a:bodyPr anchor="t" rtlCol="false" tIns="0" lIns="0" bIns="0" rIns="0">
            <a:spAutoFit/>
          </a:bodyPr>
          <a:lstStyle/>
          <a:p>
            <a:pPr algn="l">
              <a:lnSpc>
                <a:spcPts val="4759"/>
              </a:lnSpc>
            </a:pPr>
            <a:r>
              <a:rPr lang="en-US" sz="3399">
                <a:solidFill>
                  <a:srgbClr val="000000"/>
                </a:solidFill>
                <a:latin typeface="Times New Roman"/>
                <a:ea typeface="Times New Roman"/>
                <a:cs typeface="Times New Roman"/>
                <a:sym typeface="Times New Roman"/>
              </a:rPr>
              <a:t>Dù bỏ nhiều thứ phức tạp nhưng metric của LightGCN vẫn mạnh là do giữ đúng cái cần thiết giúp cho mô hình huấn luyện nhanh và chính xác hơn, và embedding cuối sẽ là trung bình embedding giữa các layer</a:t>
            </a:r>
          </a:p>
          <a:p>
            <a:pPr algn="l">
              <a:lnSpc>
                <a:spcPts val="4759"/>
              </a:lnSpc>
              <a:spcBef>
                <a:spcPct val="0"/>
              </a:spcBef>
            </a:pPr>
            <a:r>
              <a:rPr lang="en-US" sz="3399">
                <a:solidFill>
                  <a:srgbClr val="000000"/>
                </a:solidFill>
                <a:latin typeface="Times New Roman"/>
                <a:ea typeface="Times New Roman"/>
                <a:cs typeface="Times New Roman"/>
                <a:sym typeface="Times New Roman"/>
              </a:rPr>
              <a:t>Cách tính điểm vẫn tương tự ALS và NGCF</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86963" y="1457960"/>
            <a:ext cx="15728296" cy="5400040"/>
          </a:xfrm>
          <a:prstGeom prst="rect">
            <a:avLst/>
          </a:prstGeom>
        </p:spPr>
        <p:txBody>
          <a:bodyPr anchor="t" rtlCol="false" tIns="0" lIns="0" bIns="0" rIns="0">
            <a:spAutoFit/>
          </a:bodyPr>
          <a:lstStyle/>
          <a:p>
            <a:pPr algn="l">
              <a:lnSpc>
                <a:spcPts val="4759"/>
              </a:lnSpc>
            </a:pPr>
            <a:r>
              <a:rPr lang="en-US" sz="3399">
                <a:solidFill>
                  <a:srgbClr val="000000"/>
                </a:solidFill>
                <a:latin typeface="Times New Roman"/>
                <a:ea typeface="Times New Roman"/>
                <a:cs typeface="Times New Roman"/>
                <a:sym typeface="Times New Roman"/>
              </a:rPr>
              <a:t>Khác với CF dựa vào tương tác thì CBF dựa vào nội dung mô tả cũng như hình ảnh của item</a:t>
            </a:r>
          </a:p>
          <a:p>
            <a:pPr algn="l">
              <a:lnSpc>
                <a:spcPts val="4759"/>
              </a:lnSpc>
            </a:pPr>
            <a:r>
              <a:rPr lang="en-US" sz="3399">
                <a:solidFill>
                  <a:srgbClr val="000000"/>
                </a:solidFill>
                <a:latin typeface="Times New Roman"/>
                <a:ea typeface="Times New Roman"/>
                <a:cs typeface="Times New Roman"/>
                <a:sym typeface="Times New Roman"/>
              </a:rPr>
              <a:t>Ở bài này dùng FashionCLIP-một mô hình được pretrained để vecto hóa cho item</a:t>
            </a:r>
          </a:p>
          <a:p>
            <a:pPr algn="l">
              <a:lnSpc>
                <a:spcPts val="4759"/>
              </a:lnSpc>
            </a:pPr>
            <a:r>
              <a:rPr lang="en-US" sz="3399">
                <a:solidFill>
                  <a:srgbClr val="000000"/>
                </a:solidFill>
                <a:latin typeface="Times New Roman"/>
                <a:ea typeface="Times New Roman"/>
                <a:cs typeface="Times New Roman"/>
                <a:sym typeface="Times New Roman"/>
              </a:rPr>
              <a:t>Ở đây sẽ vecto hóa item(trung bình cộng image_embedding và text_embedding</a:t>
            </a:r>
          </a:p>
          <a:p>
            <a:pPr algn="l">
              <a:lnSpc>
                <a:spcPts val="4759"/>
              </a:lnSpc>
            </a:pPr>
            <a:r>
              <a:rPr lang="en-US" sz="3399">
                <a:solidFill>
                  <a:srgbClr val="000000"/>
                </a:solidFill>
                <a:latin typeface="Times New Roman"/>
                <a:ea typeface="Times New Roman"/>
                <a:cs typeface="Times New Roman"/>
                <a:sym typeface="Times New Roman"/>
              </a:rPr>
              <a:t>Sau đó xây dựng vecto profile bằng cách tính trung bình các item mà user đã tương tác</a:t>
            </a:r>
          </a:p>
          <a:p>
            <a:pPr algn="l">
              <a:lnSpc>
                <a:spcPts val="4759"/>
              </a:lnSpc>
            </a:pPr>
            <a:r>
              <a:rPr lang="en-US" sz="3399">
                <a:solidFill>
                  <a:srgbClr val="000000"/>
                </a:solidFill>
                <a:latin typeface="Times New Roman"/>
                <a:ea typeface="Times New Roman"/>
                <a:cs typeface="Times New Roman"/>
                <a:sym typeface="Times New Roman"/>
              </a:rPr>
              <a:t>Tiếp đến sẽ dùng độ đo cosine để tính khoảng cách giữa vecto profile và embedding của item(có giá trị từ 0 đến 1) càng gần 1 thì càng thích hợp</a:t>
            </a:r>
          </a:p>
          <a:p>
            <a:pPr algn="l">
              <a:lnSpc>
                <a:spcPts val="4759"/>
              </a:lnSpc>
              <a:spcBef>
                <a:spcPct val="0"/>
              </a:spcBef>
            </a:pPr>
            <a:r>
              <a:rPr lang="en-US" sz="3399">
                <a:solidFill>
                  <a:srgbClr val="000000"/>
                </a:solidFill>
                <a:latin typeface="Times New Roman"/>
                <a:ea typeface="Times New Roman"/>
                <a:cs typeface="Times New Roman"/>
                <a:sym typeface="Times New Roman"/>
              </a:rPr>
              <a:t>CBF sẽ giải quyết vấn đề cho các item và user mới cũng như làm đa dạng hóa kết quả gợi ý </a:t>
            </a:r>
          </a:p>
        </p:txBody>
      </p:sp>
      <p:grpSp>
        <p:nvGrpSpPr>
          <p:cNvPr name="Group 3" id="3"/>
          <p:cNvGrpSpPr/>
          <p:nvPr/>
        </p:nvGrpSpPr>
        <p:grpSpPr>
          <a:xfrm rot="0">
            <a:off x="16665651" y="-1246611"/>
            <a:ext cx="3244699" cy="3244699"/>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C9EF"/>
            </a:solidFill>
          </p:spPr>
        </p:sp>
      </p:grpSp>
      <p:sp>
        <p:nvSpPr>
          <p:cNvPr name="TextBox 5" id="5"/>
          <p:cNvSpPr txBox="true"/>
          <p:nvPr/>
        </p:nvSpPr>
        <p:spPr>
          <a:xfrm rot="0">
            <a:off x="4665436" y="686117"/>
            <a:ext cx="8619054"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CBF – Content-Based Filtering (FashionCLIP)</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6665651" y="-1246611"/>
            <a:ext cx="3244699" cy="3244699"/>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37C9EF"/>
            </a:solidFill>
          </p:spPr>
        </p:sp>
      </p:grpSp>
      <p:sp>
        <p:nvSpPr>
          <p:cNvPr name="TextBox 4" id="4"/>
          <p:cNvSpPr txBox="true"/>
          <p:nvPr/>
        </p:nvSpPr>
        <p:spPr>
          <a:xfrm rot="0">
            <a:off x="8303153" y="686117"/>
            <a:ext cx="1343620"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Hyb</a:t>
            </a:r>
            <a:r>
              <a:rPr lang="en-US" b="true" sz="3399">
                <a:solidFill>
                  <a:srgbClr val="000000"/>
                </a:solidFill>
                <a:latin typeface="Times New Roman Bold"/>
                <a:ea typeface="Times New Roman Bold"/>
                <a:cs typeface="Times New Roman Bold"/>
                <a:sym typeface="Times New Roman Bold"/>
              </a:rPr>
              <a:t>rid</a:t>
            </a:r>
          </a:p>
        </p:txBody>
      </p:sp>
      <p:sp>
        <p:nvSpPr>
          <p:cNvPr name="TextBox 5" id="5"/>
          <p:cNvSpPr txBox="true"/>
          <p:nvPr/>
        </p:nvSpPr>
        <p:spPr>
          <a:xfrm rot="0">
            <a:off x="5337213" y="1536624"/>
            <a:ext cx="575548" cy="599440"/>
          </a:xfrm>
          <a:prstGeom prst="rect">
            <a:avLst/>
          </a:prstGeom>
        </p:spPr>
        <p:txBody>
          <a:bodyPr anchor="t" rtlCol="false" tIns="0" lIns="0" bIns="0" rIns="0">
            <a:spAutoFit/>
          </a:bodyPr>
          <a:lstStyle/>
          <a:p>
            <a:pPr algn="ctr">
              <a:lnSpc>
                <a:spcPts val="4759"/>
              </a:lnSpc>
            </a:pPr>
            <a:r>
              <a:rPr lang="en-US" sz="3399" b="true">
                <a:solidFill>
                  <a:srgbClr val="191919"/>
                </a:solidFill>
                <a:latin typeface="Times New Roman Bold"/>
                <a:ea typeface="Times New Roman Bold"/>
                <a:cs typeface="Times New Roman Bold"/>
                <a:sym typeface="Times New Roman Bold"/>
              </a:rPr>
              <a:t>CF</a:t>
            </a:r>
          </a:p>
        </p:txBody>
      </p:sp>
      <p:sp>
        <p:nvSpPr>
          <p:cNvPr name="TextBox 6" id="6"/>
          <p:cNvSpPr txBox="true"/>
          <p:nvPr/>
        </p:nvSpPr>
        <p:spPr>
          <a:xfrm rot="0">
            <a:off x="12728278" y="1536624"/>
            <a:ext cx="816173" cy="599440"/>
          </a:xfrm>
          <a:prstGeom prst="rect">
            <a:avLst/>
          </a:prstGeom>
        </p:spPr>
        <p:txBody>
          <a:bodyPr anchor="t" rtlCol="false" tIns="0" lIns="0" bIns="0" rIns="0">
            <a:spAutoFit/>
          </a:bodyPr>
          <a:lstStyle/>
          <a:p>
            <a:pPr algn="ctr">
              <a:lnSpc>
                <a:spcPts val="4759"/>
              </a:lnSpc>
            </a:pPr>
            <a:r>
              <a:rPr lang="en-US" sz="3399">
                <a:solidFill>
                  <a:srgbClr val="191919"/>
                </a:solidFill>
                <a:latin typeface="Times New Roman"/>
                <a:ea typeface="Times New Roman"/>
                <a:cs typeface="Times New Roman"/>
                <a:sym typeface="Times New Roman"/>
              </a:rPr>
              <a:t>CBF</a:t>
            </a:r>
          </a:p>
        </p:txBody>
      </p:sp>
      <p:sp>
        <p:nvSpPr>
          <p:cNvPr name="TextBox 7" id="7"/>
          <p:cNvSpPr txBox="true"/>
          <p:nvPr/>
        </p:nvSpPr>
        <p:spPr>
          <a:xfrm rot="0">
            <a:off x="1623858" y="2323947"/>
            <a:ext cx="7688321" cy="2399665"/>
          </a:xfrm>
          <a:prstGeom prst="rect">
            <a:avLst/>
          </a:prstGeom>
        </p:spPr>
        <p:txBody>
          <a:bodyPr anchor="t" rtlCol="false" tIns="0" lIns="0" bIns="0" rIns="0">
            <a:spAutoFit/>
          </a:bodyPr>
          <a:lstStyle/>
          <a:p>
            <a:pPr algn="l">
              <a:lnSpc>
                <a:spcPts val="4759"/>
              </a:lnSpc>
            </a:pPr>
            <a:r>
              <a:rPr lang="en-US" sz="3399">
                <a:solidFill>
                  <a:srgbClr val="191919"/>
                </a:solidFill>
                <a:latin typeface="Times New Roman"/>
                <a:ea typeface="Times New Roman"/>
                <a:cs typeface="Times New Roman"/>
                <a:sym typeface="Times New Roman"/>
              </a:rPr>
              <a:t>Mạnh nhưng chỉ hiệu quả khi user có nhiều tương tác, không thể dùng khi có user hoặc item mới</a:t>
            </a:r>
          </a:p>
          <a:p>
            <a:pPr algn="l">
              <a:lnSpc>
                <a:spcPts val="4759"/>
              </a:lnSpc>
            </a:pPr>
          </a:p>
        </p:txBody>
      </p:sp>
      <p:sp>
        <p:nvSpPr>
          <p:cNvPr name="TextBox 8" id="8"/>
          <p:cNvSpPr txBox="true"/>
          <p:nvPr/>
        </p:nvSpPr>
        <p:spPr>
          <a:xfrm rot="0">
            <a:off x="9968707" y="2314422"/>
            <a:ext cx="8319293" cy="3055234"/>
          </a:xfrm>
          <a:prstGeom prst="rect">
            <a:avLst/>
          </a:prstGeom>
        </p:spPr>
        <p:txBody>
          <a:bodyPr anchor="t" rtlCol="false" tIns="0" lIns="0" bIns="0" rIns="0">
            <a:spAutoFit/>
          </a:bodyPr>
          <a:lstStyle/>
          <a:p>
            <a:pPr algn="l">
              <a:lnSpc>
                <a:spcPts val="4851"/>
              </a:lnSpc>
            </a:pPr>
            <a:r>
              <a:rPr lang="en-US" sz="3465">
                <a:solidFill>
                  <a:srgbClr val="191919"/>
                </a:solidFill>
                <a:latin typeface="Times New Roman"/>
                <a:ea typeface="Times New Roman"/>
                <a:cs typeface="Times New Roman"/>
                <a:sym typeface="Times New Roman"/>
              </a:rPr>
              <a:t>Hiểu nội dung sản phẩm (ảnh + mô tả)</a:t>
            </a:r>
          </a:p>
          <a:p>
            <a:pPr algn="l">
              <a:lnSpc>
                <a:spcPts val="4851"/>
              </a:lnSpc>
            </a:pPr>
            <a:r>
              <a:rPr lang="en-US" sz="3465">
                <a:solidFill>
                  <a:srgbClr val="191919"/>
                </a:solidFill>
                <a:latin typeface="Times New Roman"/>
                <a:ea typeface="Times New Roman"/>
                <a:cs typeface="Times New Roman"/>
                <a:sym typeface="Times New Roman"/>
              </a:rPr>
              <a:t>Giải quyết co</a:t>
            </a:r>
            <a:r>
              <a:rPr lang="en-US" sz="3465">
                <a:solidFill>
                  <a:srgbClr val="191919"/>
                </a:solidFill>
                <a:latin typeface="Times New Roman"/>
                <a:ea typeface="Times New Roman"/>
                <a:cs typeface="Times New Roman"/>
                <a:sym typeface="Times New Roman"/>
              </a:rPr>
              <a:t>ld-start item</a:t>
            </a:r>
          </a:p>
          <a:p>
            <a:pPr algn="l">
              <a:lnSpc>
                <a:spcPts val="4851"/>
              </a:lnSpc>
            </a:pPr>
            <a:r>
              <a:rPr lang="en-US" sz="3465">
                <a:solidFill>
                  <a:srgbClr val="191919"/>
                </a:solidFill>
                <a:latin typeface="Times New Roman"/>
                <a:ea typeface="Times New Roman"/>
                <a:cs typeface="Times New Roman"/>
                <a:sym typeface="Times New Roman"/>
              </a:rPr>
              <a:t>Giải quyết cold-start user (xây profile từ lựa chọn sở thích)</a:t>
            </a:r>
          </a:p>
          <a:p>
            <a:pPr algn="l">
              <a:lnSpc>
                <a:spcPts val="4851"/>
              </a:lnSpc>
            </a:pPr>
          </a:p>
        </p:txBody>
      </p:sp>
      <p:sp>
        <p:nvSpPr>
          <p:cNvPr name="TextBox 9" id="9"/>
          <p:cNvSpPr txBox="true"/>
          <p:nvPr/>
        </p:nvSpPr>
        <p:spPr>
          <a:xfrm rot="0">
            <a:off x="1623858" y="4800917"/>
            <a:ext cx="16139363" cy="1799590"/>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Times New Roman"/>
                <a:ea typeface="Times New Roman"/>
                <a:cs typeface="Times New Roman"/>
                <a:sym typeface="Times New Roman"/>
              </a:rPr>
              <a:t>Khii kết hợp cả 2 lại sẽ giải quyết được vấn đề cold-start và trở thành 1 phiên bản toàn diện giải quyết được vấn đề cold-start, tăng độ đa dạng khi gợi ý và tận dụng được tối đa độ giàu thông tin của sản phẩm thời trang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719806"/>
            <a:ext cx="10903621" cy="1122432"/>
          </a:xfrm>
          <a:custGeom>
            <a:avLst/>
            <a:gdLst/>
            <a:ahLst/>
            <a:cxnLst/>
            <a:rect r="r" b="b" t="t" l="l"/>
            <a:pathLst>
              <a:path h="1122432" w="10903621">
                <a:moveTo>
                  <a:pt x="0" y="0"/>
                </a:moveTo>
                <a:lnTo>
                  <a:pt x="10903621" y="0"/>
                </a:lnTo>
                <a:lnTo>
                  <a:pt x="10903621" y="1122432"/>
                </a:lnTo>
                <a:lnTo>
                  <a:pt x="0" y="1122432"/>
                </a:lnTo>
                <a:lnTo>
                  <a:pt x="0" y="0"/>
                </a:lnTo>
                <a:close/>
              </a:path>
            </a:pathLst>
          </a:custGeom>
          <a:blipFill>
            <a:blip r:embed="rId2"/>
            <a:stretch>
              <a:fillRect l="0" t="0" r="0" b="0"/>
            </a:stretch>
          </a:blipFill>
        </p:spPr>
      </p:sp>
      <p:sp>
        <p:nvSpPr>
          <p:cNvPr name="TextBox 3" id="3"/>
          <p:cNvSpPr txBox="true"/>
          <p:nvPr/>
        </p:nvSpPr>
        <p:spPr>
          <a:xfrm rot="0">
            <a:off x="8069254" y="686117"/>
            <a:ext cx="1811417"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Cách tính</a:t>
            </a:r>
          </a:p>
        </p:txBody>
      </p:sp>
      <p:sp>
        <p:nvSpPr>
          <p:cNvPr name="TextBox 4" id="4"/>
          <p:cNvSpPr txBox="true"/>
          <p:nvPr/>
        </p:nvSpPr>
        <p:spPr>
          <a:xfrm rot="0">
            <a:off x="1301233" y="4418964"/>
            <a:ext cx="15958067" cy="724536"/>
          </a:xfrm>
          <a:prstGeom prst="rect">
            <a:avLst/>
          </a:prstGeom>
        </p:spPr>
        <p:txBody>
          <a:bodyPr anchor="t" rtlCol="false" tIns="0" lIns="0" bIns="0" rIns="0">
            <a:spAutoFit/>
          </a:bodyPr>
          <a:lstStyle/>
          <a:p>
            <a:pPr algn="ctr">
              <a:lnSpc>
                <a:spcPts val="5739"/>
              </a:lnSpc>
              <a:spcBef>
                <a:spcPct val="0"/>
              </a:spcBef>
            </a:pPr>
            <a:r>
              <a:rPr lang="en-US" sz="4099">
                <a:solidFill>
                  <a:srgbClr val="000000"/>
                </a:solidFill>
                <a:latin typeface="Times New Roman"/>
                <a:ea typeface="Times New Roman"/>
                <a:cs typeface="Times New Roman"/>
                <a:sym typeface="Times New Roman"/>
              </a:rPr>
              <a:t>trong đó α</a:t>
            </a:r>
            <a:r>
              <a:rPr lang="en-US" sz="4099">
                <a:solidFill>
                  <a:srgbClr val="000000"/>
                </a:solidFill>
                <a:latin typeface="Times New Roman"/>
                <a:ea typeface="Times New Roman"/>
                <a:cs typeface="Times New Roman"/>
                <a:sym typeface="Times New Roman"/>
              </a:rPr>
              <a:t>CF</a:t>
            </a:r>
            <a:r>
              <a:rPr lang="en-US" sz="4099">
                <a:solidFill>
                  <a:srgbClr val="000000"/>
                </a:solidFill>
                <a:latin typeface="Times New Roman"/>
                <a:ea typeface="Times New Roman"/>
                <a:cs typeface="Times New Roman"/>
                <a:sym typeface="Times New Roman"/>
              </a:rPr>
              <a:t>​, α</a:t>
            </a:r>
            <a:r>
              <a:rPr lang="en-US" sz="4099">
                <a:solidFill>
                  <a:srgbClr val="000000"/>
                </a:solidFill>
                <a:latin typeface="Times New Roman"/>
                <a:ea typeface="Times New Roman"/>
                <a:cs typeface="Times New Roman"/>
                <a:sym typeface="Times New Roman"/>
              </a:rPr>
              <a:t>CBF</a:t>
            </a:r>
            <a:r>
              <a:rPr lang="en-US" sz="4099">
                <a:solidFill>
                  <a:srgbClr val="000000"/>
                </a:solidFill>
                <a:latin typeface="Times New Roman"/>
                <a:ea typeface="Times New Roman"/>
                <a:cs typeface="Times New Roman"/>
                <a:sym typeface="Times New Roman"/>
              </a:rPr>
              <a:t>​ là trọng số (mức độ tin tưởng vào từng cái) và có tổng là 1</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69351" y="1504215"/>
            <a:ext cx="15949298" cy="8433191"/>
          </a:xfrm>
          <a:custGeom>
            <a:avLst/>
            <a:gdLst/>
            <a:ahLst/>
            <a:cxnLst/>
            <a:rect r="r" b="b" t="t" l="l"/>
            <a:pathLst>
              <a:path h="8433191" w="15949298">
                <a:moveTo>
                  <a:pt x="0" y="0"/>
                </a:moveTo>
                <a:lnTo>
                  <a:pt x="15949298" y="0"/>
                </a:lnTo>
                <a:lnTo>
                  <a:pt x="15949298" y="8433192"/>
                </a:lnTo>
                <a:lnTo>
                  <a:pt x="0" y="8433192"/>
                </a:lnTo>
                <a:lnTo>
                  <a:pt x="0" y="0"/>
                </a:lnTo>
                <a:close/>
              </a:path>
            </a:pathLst>
          </a:custGeom>
          <a:blipFill>
            <a:blip r:embed="rId2"/>
            <a:stretch>
              <a:fillRect l="0" t="0" r="0" b="0"/>
            </a:stretch>
          </a:blipFill>
        </p:spPr>
      </p:sp>
      <p:sp>
        <p:nvSpPr>
          <p:cNvPr name="TextBox 3" id="3"/>
          <p:cNvSpPr txBox="true"/>
          <p:nvPr/>
        </p:nvSpPr>
        <p:spPr>
          <a:xfrm rot="0">
            <a:off x="8237311" y="686117"/>
            <a:ext cx="1475303"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Kết quả</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141168" y="686117"/>
            <a:ext cx="1667589"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Đánh giá</a:t>
            </a:r>
          </a:p>
        </p:txBody>
      </p:sp>
      <p:sp>
        <p:nvSpPr>
          <p:cNvPr name="TextBox 3" id="3"/>
          <p:cNvSpPr txBox="true"/>
          <p:nvPr/>
        </p:nvSpPr>
        <p:spPr>
          <a:xfrm rot="0">
            <a:off x="2465791" y="1521049"/>
            <a:ext cx="13018345" cy="1199515"/>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Times New Roman"/>
                <a:ea typeface="Times New Roman"/>
                <a:cs typeface="Times New Roman"/>
                <a:sym typeface="Times New Roman"/>
              </a:rPr>
              <a:t>Tuy metrics của hybrid chưa cao ( do dùng dữ liệu có nhiều giao dịch nên chưa thấy được lợi ích của CBF ) nhưng vẫn đạt được kết quả khá ổn.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DAG7NZ9heqY</dc:identifier>
  <dcterms:modified xsi:type="dcterms:W3CDTF">2011-08-01T06:04:30Z</dcterms:modified>
  <cp:revision>1</cp:revision>
  <dc:title>RS-CF-CBF</dc:title>
</cp:coreProperties>
</file>